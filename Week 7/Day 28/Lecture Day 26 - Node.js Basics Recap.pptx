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Students already saw Express + Mongoose (Day 23) and a Node intro (Day 24). Today we recap Node fundamentals thoroughly so the backend stack makes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stack: React (browser) → HTTP → Express (Node) → Mongoose →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Analogy: Node is the engine; Express is the car 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Run: node hello.js. No browser, no HTML — just JS + Node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 is great for quick experiments. .help shows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"type": "module", .js files use import/export. __dirname is not available — use import.meta.url.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Express route handlers, always prefer async fs or streams for large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Live-poll the class before running. This is Lab Task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Express app.listen() wraps this. req/res are enhanced versions of these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lab-starter folder. Students work in pairs for first 15 min, then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B2B"/>
                </a:solidFill>
              </a:defRPr>
            </a:pPr>
            <a:r>
              <a:t>Node.js Basics — Deep Dive &amp; Recap</a:t>
            </a:r>
          </a:p>
          <a:p>
            <a:pPr>
              <a:spcBef>
                <a:spcPts val="1200"/>
              </a:spcBef>
              <a:defRPr sz="2200">
                <a:solidFill>
                  <a:srgbClr val="5C6C6C"/>
                </a:solidFill>
              </a:defRPr>
            </a:pPr>
            <a:r>
              <a:t>Week 6 · Day 26 · 90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Agenda (90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Where Node fits in MERN (5 min)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What Node is &amp; how it runs JavaScript (10 min)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Browser vs Node runtime (8 min)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Running scripts, REPL &amp; npm (10 min)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Modules: CommonJS &amp; ES Modules (12 min)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Core modules: path, fs, os, process (15 min)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Event loop &amp; async I/O (15 min)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Events, streams &amp; raw HTTP (12 min)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package.json, env vars &amp; project layout (8 min)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Bridge to Express/Mongoose &amp; lab preview (5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32B2B"/>
                </a:solidFill>
              </a:defRPr>
            </a:pPr>
            <a:r>
              <a:t>Section 1 — Node in the MERN Stack</a:t>
            </a:r>
          </a:p>
          <a:p>
            <a:pPr algn="ctr">
              <a:spcBef>
                <a:spcPts val="800"/>
              </a:spcBef>
              <a:defRPr sz="2000">
                <a:solidFill>
                  <a:srgbClr val="5C6C6C"/>
                </a:solidFill>
              </a:defRPr>
            </a:pPr>
            <a:r>
              <a:t>5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Recap: what you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Day 22 — MongoDB: document database, collections, CRUD in shell/Compass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Day 23 — Express + Mongoose: REST API, routes, schemas, models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Day 24 — Node introduction: JavaScript on the server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Today — understand the engine under Express: Node.js itself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MERN = MongoDB + Express + React + Node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Why Node for the backend?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Same language (JavaScript) on frontend and backend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Huge npm ecosystem — Express, Mongoose, dotenv, etc.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Non-blocking I/O — handles many concurrent connections efficiently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Event-driven architecture fits real-time &amp; API workloads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Express is a thin layer on top of Node's built-in http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32B2B"/>
                </a:solidFill>
              </a:defRPr>
            </a:pPr>
            <a:r>
              <a:t>Section 2 — What Is Node.js?</a:t>
            </a:r>
          </a:p>
          <a:p>
            <a:pPr algn="ctr">
              <a:spcBef>
                <a:spcPts val="800"/>
              </a:spcBef>
              <a:defRPr sz="2000">
                <a:solidFill>
                  <a:srgbClr val="5C6C6C"/>
                </a:solidFill>
              </a:defRPr>
            </a:pPr>
            <a:r>
              <a:t>10 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Node.js 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Node.js = JavaScript runtime built on Chrome's V8 engine + libuv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V8 compiles JS to machine code (fast execution)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libuv provides the event loop, thread pool &amp; async I/O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Node is NOT a framework — it's a runtime environment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Express, Fastify, NestJS are frameworks that run ON Node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Key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Single-threaded for JavaScript execution (one call stack)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Non-blocking I/O — async operations don't freeze the server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Cross-platform — Windows, macOS, Linux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Open source, maintained by the OpenJS Foundation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LTS releases — use even-numbered versions in production (e.g. 22.x)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B2B"/>
                </a:solidFill>
              </a:defRPr>
            </a:pPr>
            <a:r>
              <a:t>Your first Node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solidFill>
            <a:srgbClr val="F4F4F4"/>
          </a:solidFill>
          <a:ln>
            <a:solidFill>
              <a:srgbClr val="5C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232B2B"/>
                </a:solidFill>
                <a:latin typeface="Consolas"/>
              </a:defRPr>
            </a:pPr>
            <a:r>
              <a:t>// hello.js</a:t>
            </a:r>
            <a:br/>
            <a:r>
              <a:t>console.log("Hello from Node!");</a:t>
            </a:r>
            <a:br/>
            <a:r>
              <a:t>console.log("Node version:", process.version);</a:t>
            </a:r>
            <a:br/>
            <a:r>
              <a:t>console.log("Platform:", process.platform);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32B2B"/>
                </a:solidFill>
              </a:defRPr>
            </a:pPr>
            <a:r>
              <a:t>Section 3 — Browser vs Node</a:t>
            </a:r>
          </a:p>
          <a:p>
            <a:pPr algn="ctr">
              <a:spcBef>
                <a:spcPts val="800"/>
              </a:spcBef>
              <a:defRPr sz="2000">
                <a:solidFill>
                  <a:srgbClr val="5C6C6C"/>
                </a:solidFill>
              </a:defRPr>
            </a:pPr>
            <a:r>
              <a:t>8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Globals: browser vs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Browser: window, document, localStorage, fetch (built-in)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Node: global (or globalThis), process, __dirname, __filename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Both: console, setTimeout, Promise, JSON, Map, Set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Node has NO DOM — no document.getElementById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Node adds file system, networking, child processes via modules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APIs you will use constantly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fs — read/write files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path — join paths safely across OS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http / https — create servers &amp; make requests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os — CPU, memory, hostname info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process — env vars, argv, exit codes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events — EventEmitter pattern (used inside streams &amp; servers)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32B2B"/>
                </a:solidFill>
              </a:defRPr>
            </a:pPr>
            <a:r>
              <a:t>Section 4 — Running Node &amp; npm</a:t>
            </a:r>
          </a:p>
          <a:p>
            <a:pPr algn="ctr">
              <a:spcBef>
                <a:spcPts val="800"/>
              </a:spcBef>
              <a:defRPr sz="2000">
                <a:solidFill>
                  <a:srgbClr val="5C6C6C"/>
                </a:solidFill>
              </a:defRPr>
            </a:pPr>
            <a:r>
              <a:t>10 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Three ways to run JavaScript with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1. node script.js — run a file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2. node — interactive REPL (Read-Eval-Print Loop)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3. npm run &lt;script&gt; — run commands from package.json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node --watch app.js — auto-restart on file changes (Node 18+)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npx nodemon app.js — popular dev tool for auto-restart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B2B"/>
                </a:solidFill>
              </a:defRPr>
            </a:pPr>
            <a:r>
              <a:t>REPL quick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solidFill>
            <a:srgbClr val="F4F4F4"/>
          </a:solidFill>
          <a:ln>
            <a:solidFill>
              <a:srgbClr val="5C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232B2B"/>
                </a:solidFill>
                <a:latin typeface="Consolas"/>
              </a:defRPr>
            </a:pPr>
            <a:r>
              <a:t>$ node</a:t>
            </a:r>
            <a:br/>
            <a:r>
              <a:t>&gt; 2 + 2</a:t>
            </a:r>
            <a:br/>
            <a:r>
              <a:t>4</a:t>
            </a:r>
            <a:br/>
            <a:r>
              <a:t>&gt; const fs = require('fs')</a:t>
            </a:r>
            <a:br/>
            <a:r>
              <a:t>&gt; fs.readdirSync('.')</a:t>
            </a:r>
            <a:br/>
            <a:r>
              <a:t>[ 'package.json', 'src', 'node_modules' ]</a:t>
            </a:r>
            <a:br/>
            <a:r>
              <a:t>&gt; .exit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npm essentials (recap)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npm init -y — create package.json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npm install express — add dependency (saves to node_modules/)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npm install -D nodemon — dev dependency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package-lock.json — locks exact versions for reproducible installs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Never commit node_modules/ — always use .gitignore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32B2B"/>
                </a:solidFill>
              </a:defRPr>
            </a:pPr>
            <a:r>
              <a:t>Section 5 — Modules</a:t>
            </a:r>
          </a:p>
          <a:p>
            <a:pPr algn="ctr">
              <a:spcBef>
                <a:spcPts val="800"/>
              </a:spcBef>
              <a:defRPr sz="2000">
                <a:solidFill>
                  <a:srgbClr val="5C6C6C"/>
                </a:solidFill>
              </a:defRPr>
            </a:pPr>
            <a:r>
              <a:t>12 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Why modules?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Split code into reusable files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Avoid global namespace pollution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You learned ES modules in Week 2 (import/export with Vite)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Node supports BOTH CommonJS and ES Modules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Express projects often mix: require() in older code, import in newer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B2B"/>
                </a:solidFill>
              </a:defRPr>
            </a:pPr>
            <a:r>
              <a:t>CommonJS (require / module.exports)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solidFill>
            <a:srgbClr val="F4F4F4"/>
          </a:solidFill>
          <a:ln>
            <a:solidFill>
              <a:srgbClr val="5C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232B2B"/>
                </a:solidFill>
                <a:latin typeface="Consolas"/>
              </a:defRPr>
            </a:pPr>
            <a:r>
              <a:t>// math.js</a:t>
            </a:r>
            <a:br/>
            <a:r>
              <a:t>function add(a, b) { return a + b; }</a:t>
            </a:r>
            <a:br/>
            <a:r>
              <a:t>function subtract(a, b) { return a - b; }</a:t>
            </a:r>
            <a:br/>
            <a:r>
              <a:t>module.exports = { add, subtract };</a:t>
            </a:r>
            <a:br/>
            <a:br/>
            <a:r>
              <a:t>// app.js</a:t>
            </a:r>
            <a:br/>
            <a:r>
              <a:t>const { add, subtract } = require('./math');</a:t>
            </a:r>
            <a:br/>
            <a:r>
              <a:t>console.log(add(5, 3));       // 8</a:t>
            </a:r>
            <a:br/>
            <a:r>
              <a:t>console.log(subtract(5, 3));  //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B2B"/>
                </a:solidFill>
              </a:defRPr>
            </a:pPr>
            <a:r>
              <a:t>ES Modules (import / export)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solidFill>
            <a:srgbClr val="F4F4F4"/>
          </a:solidFill>
          <a:ln>
            <a:solidFill>
              <a:srgbClr val="5C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232B2B"/>
                </a:solidFill>
                <a:latin typeface="Consolas"/>
              </a:defRPr>
            </a:pPr>
            <a:r>
              <a:t>// math.mjs  OR  set "type": "module" in package.json</a:t>
            </a:r>
            <a:br/>
            <a:r>
              <a:t>export function add(a, b) { return a + b; }</a:t>
            </a:r>
            <a:br/>
            <a:r>
              <a:t>export function subtract(a, b) { return a - b; }</a:t>
            </a:r>
            <a:br/>
            <a:br/>
            <a:r>
              <a:t>// app.mjs</a:t>
            </a:r>
            <a:br/>
            <a:r>
              <a:t>import { add, subtract } from './math.mjs';</a:t>
            </a:r>
            <a:br/>
            <a:r>
              <a:t>console.log(add(5, 3));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Default vs named exports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Named: export const foo = ... → import { foo } from './file'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Default: export default function() {} → import myFn from './file'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You can mix one default + many named exports in one file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require() is synchronous; import() can be dynamic: await import('./x')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Rule of thumb: pick one style per project and stay consistent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32B2B"/>
                </a:solidFill>
              </a:defRPr>
            </a:pPr>
            <a:r>
              <a:t>Section 6 — Core Modules</a:t>
            </a:r>
          </a:p>
          <a:p>
            <a:pPr algn="ctr">
              <a:spcBef>
                <a:spcPts val="800"/>
              </a:spcBef>
              <a:defRPr sz="2000">
                <a:solidFill>
                  <a:srgbClr val="5C6C6C"/>
                </a:solidFill>
              </a:defRPr>
            </a:pPr>
            <a:r>
              <a:t>15 min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B2B"/>
                </a:solidFill>
              </a:defRPr>
            </a:pPr>
            <a:r>
              <a:t>path — cross-platform file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solidFill>
            <a:srgbClr val="F4F4F4"/>
          </a:solidFill>
          <a:ln>
            <a:solidFill>
              <a:srgbClr val="5C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232B2B"/>
                </a:solidFill>
                <a:latin typeface="Consolas"/>
              </a:defRPr>
            </a:pPr>
            <a:r>
              <a:t>const path = require('path');</a:t>
            </a:r>
            <a:br/>
            <a:br/>
            <a:r>
              <a:t>path.join('users', 'ali', 'notes.txt');</a:t>
            </a:r>
            <a:br/>
            <a:r>
              <a:t>// users\ali\notes.txt  (Windows)</a:t>
            </a:r>
            <a:br/>
            <a:r>
              <a:t>// users/ali/notes.txt    (macOS/Linux)</a:t>
            </a:r>
            <a:br/>
            <a:br/>
            <a:r>
              <a:t>path.basename('/data/report.pdf');  // report.pdf</a:t>
            </a:r>
            <a:br/>
            <a:r>
              <a:t>path.extname('photo.jpg');          // .jpg</a:t>
            </a:r>
            <a:br/>
            <a:r>
              <a:t>path.resolve('src', 'app.js');      // absolute path from cwd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B2B"/>
                </a:solidFill>
              </a:defRPr>
            </a:pPr>
            <a:r>
              <a:t>fs — read &amp; write files (async vs sync)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solidFill>
            <a:srgbClr val="F4F4F4"/>
          </a:solidFill>
          <a:ln>
            <a:solidFill>
              <a:srgbClr val="5C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232B2B"/>
                </a:solidFill>
                <a:latin typeface="Consolas"/>
              </a:defRPr>
            </a:pPr>
            <a:r>
              <a:t>const fs = require('fs');</a:t>
            </a:r>
            <a:br/>
            <a:br/>
            <a:r>
              <a:t>// Async (preferred — non-blocking)</a:t>
            </a:r>
            <a:br/>
            <a:r>
              <a:t>fs.readFile('data.txt', 'utf8', (err, data) =&gt; {</a:t>
            </a:r>
            <a:br/>
            <a:r>
              <a:t>  if (err) throw err;</a:t>
            </a:r>
            <a:br/>
            <a:r>
              <a:t>  console.log(data);</a:t>
            </a:r>
            <a:br/>
            <a:r>
              <a:t>});</a:t>
            </a:r>
            <a:br/>
            <a:br/>
            <a:r>
              <a:t>// Sync (blocks the event loop — avoid in servers)</a:t>
            </a:r>
            <a:br/>
            <a:r>
              <a:t>const data = fs.readFileSync('data.txt', 'utf8');</a:t>
            </a:r>
            <a:br/>
            <a:br/>
            <a:r>
              <a:t>// Promises API (Node 10+)</a:t>
            </a:r>
            <a:br/>
            <a:r>
              <a:t>const fsp = require('fs/promises');</a:t>
            </a:r>
            <a:br/>
            <a:r>
              <a:t>const text = await fsp.readFile('data.txt', 'utf8');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B2B"/>
                </a:solidFill>
              </a:defRPr>
            </a:pPr>
            <a:r>
              <a:t>process &amp;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solidFill>
            <a:srgbClr val="F4F4F4"/>
          </a:solidFill>
          <a:ln>
            <a:solidFill>
              <a:srgbClr val="5C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232B2B"/>
                </a:solidFill>
                <a:latin typeface="Consolas"/>
              </a:defRPr>
            </a:pPr>
            <a:r>
              <a:t>// process — current Node process</a:t>
            </a:r>
            <a:br/>
            <a:r>
              <a:t>process.env.PORT          // environment variables</a:t>
            </a:r>
            <a:br/>
            <a:r>
              <a:t>process.argv              // CLI arguments</a:t>
            </a:r>
            <a:br/>
            <a:r>
              <a:t>process.cwd()             // current working directory</a:t>
            </a:r>
            <a:br/>
            <a:r>
              <a:t>process.exit(1)           // exit with error code</a:t>
            </a:r>
            <a:br/>
            <a:br/>
            <a:r>
              <a:t>// os — machine info</a:t>
            </a:r>
            <a:br/>
            <a:r>
              <a:t>const os = require('os');</a:t>
            </a:r>
            <a:br/>
            <a:r>
              <a:t>os.platform();            // win32, darwin, linux</a:t>
            </a:r>
            <a:br/>
            <a:r>
              <a:t>os.cpus().length;         // CPU cores</a:t>
            </a:r>
            <a:br/>
            <a:r>
              <a:t>os.totalmem();            // RAM in bytes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Environment variables (.env)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Never hard-code secrets (DB passwords, API keys) in source code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Use process.env.MONGO_URI, process.env.PORT, etc.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dotenv package loads .env file into process.env at startup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Add .env to .gitignore — commit .env.example with placeholder values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This is exactly how your Day 23 Express + Mongoose app connects to Atlas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32B2B"/>
                </a:solidFill>
              </a:defRPr>
            </a:pPr>
            <a:r>
              <a:t>Section 7 — Event Loop &amp; Async I/O</a:t>
            </a:r>
          </a:p>
          <a:p>
            <a:pPr algn="ctr">
              <a:spcBef>
                <a:spcPts val="800"/>
              </a:spcBef>
              <a:defRPr sz="2000">
                <a:solidFill>
                  <a:srgbClr val="5C6C6C"/>
                </a:solidFill>
              </a:defRPr>
            </a:pPr>
            <a:r>
              <a:t>15 min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How Node stays fast with one thread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Call stack — runs synchronous JS line by line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Node delegates slow work (disk, network) to libuv thread pool / OS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When async work finishes, callbacks enter the callback queue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Event loop picks queued callbacks when the stack is empty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This is why blocking sync code (fs.readFileSync in a loop) kills performance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Microtasks vs macrotasks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Microtasks (highest priority): Promise.then, queueMicrotask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Macrotasks: setTimeout, setInterval, I/O callbacks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Order: sync code → all microtasks → one macrotask → repeat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You practiced this in Week 2 Day 3 lab!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Understanding this prevents subtle bugs in async code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B2B"/>
                </a:solidFill>
              </a:defRPr>
            </a:pPr>
            <a:r>
              <a:t>Event loop — predict the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solidFill>
            <a:srgbClr val="F4F4F4"/>
          </a:solidFill>
          <a:ln>
            <a:solidFill>
              <a:srgbClr val="5C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232B2B"/>
                </a:solidFill>
                <a:latin typeface="Consolas"/>
              </a:defRPr>
            </a:pPr>
            <a:r>
              <a:t>console.log('A');</a:t>
            </a:r>
            <a:br/>
            <a:br/>
            <a:r>
              <a:t>setTimeout(() =&gt; console.log('B'), 0);</a:t>
            </a:r>
            <a:br/>
            <a:br/>
            <a:r>
              <a:t>Promise.resolve()</a:t>
            </a:r>
            <a:br/>
            <a:r>
              <a:t>  .then(() =&gt; console.log('C'))</a:t>
            </a:r>
            <a:br/>
            <a:r>
              <a:t>  .then(() =&gt; console.log('D'));</a:t>
            </a:r>
            <a:br/>
            <a:br/>
            <a:r>
              <a:t>queueMicrotask(() =&gt; console.log('E'));</a:t>
            </a:r>
            <a:br/>
            <a:br/>
            <a:r>
              <a:t>console.log('F');</a:t>
            </a:r>
            <a:br/>
            <a:br/>
            <a:r>
              <a:t>// Answer: A, F, C, E, D, B</a:t>
            </a:r>
            <a:br/>
            <a:r>
              <a:t>// Sync first, then microtasks, then macrotasks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B2B"/>
                </a:solidFill>
              </a:defRPr>
            </a:pPr>
            <a:r>
              <a:t>Async patterns 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solidFill>
            <a:srgbClr val="F4F4F4"/>
          </a:solidFill>
          <a:ln>
            <a:solidFill>
              <a:srgbClr val="5C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232B2B"/>
                </a:solidFill>
                <a:latin typeface="Consolas"/>
              </a:defRPr>
            </a:pPr>
            <a:r>
              <a:t>// Callback</a:t>
            </a:r>
            <a:br/>
            <a:r>
              <a:t>fs.readFile('f.txt', 'utf8', (err, data) =&gt; { /* ... */ });</a:t>
            </a:r>
            <a:br/>
            <a:br/>
            <a:r>
              <a:t>// Promise</a:t>
            </a:r>
            <a:br/>
            <a:r>
              <a:t>fsp.readFile('f.txt', 'utf8').then(console.log).catch(console.error);</a:t>
            </a:r>
            <a:br/>
            <a:br/>
            <a:r>
              <a:t>// async/await (cleanest)</a:t>
            </a:r>
            <a:br/>
            <a:r>
              <a:t>async function load() {</a:t>
            </a:r>
            <a:br/>
            <a:r>
              <a:t>  try {</a:t>
            </a:r>
            <a:br/>
            <a:r>
              <a:t>    const data = await fsp.readFile('f.txt', 'utf8');</a:t>
            </a:r>
            <a:br/>
            <a:r>
              <a:t>    console.log(data);</a:t>
            </a:r>
            <a:br/>
            <a:r>
              <a:t>  } catch (err) {</a:t>
            </a:r>
            <a:br/>
            <a:r>
              <a:t>    console.error(err);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32B2B"/>
                </a:solidFill>
              </a:defRPr>
            </a:pPr>
            <a:r>
              <a:t>Section 8 — Events, Streams &amp; HTTP</a:t>
            </a:r>
          </a:p>
          <a:p>
            <a:pPr algn="ctr">
              <a:spcBef>
                <a:spcPts val="800"/>
              </a:spcBef>
              <a:defRPr sz="2000">
                <a:solidFill>
                  <a:srgbClr val="5C6C6C"/>
                </a:solidFill>
              </a:defRPr>
            </a:pPr>
            <a:r>
              <a:t>12 min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B2B"/>
                </a:solidFill>
              </a:defRPr>
            </a:pPr>
            <a:r>
              <a:t>EventEmitter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solidFill>
            <a:srgbClr val="F4F4F4"/>
          </a:solidFill>
          <a:ln>
            <a:solidFill>
              <a:srgbClr val="5C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232B2B"/>
                </a:solidFill>
                <a:latin typeface="Consolas"/>
              </a:defRPr>
            </a:pPr>
            <a:r>
              <a:t>const EventEmitter = require('events');</a:t>
            </a:r>
            <a:br/>
            <a:r>
              <a:t>const emitter = new EventEmitter();</a:t>
            </a:r>
            <a:br/>
            <a:br/>
            <a:r>
              <a:t>emitter.on('order', (item) =&gt; {</a:t>
            </a:r>
            <a:br/>
            <a:r>
              <a:t>  console.log('Order received:', item);</a:t>
            </a:r>
            <a:br/>
            <a:r>
              <a:t>});</a:t>
            </a:r>
            <a:br/>
            <a:br/>
            <a:r>
              <a:t>emitter.emit('order', 'Pizza');</a:t>
            </a:r>
            <a:br/>
            <a:r>
              <a:t>// Order received: Pizza</a:t>
            </a:r>
            <a:br/>
            <a:br/>
            <a:r>
              <a:t>// Many Node objects ARE EventEmitters: streams, servers, process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Streams (conceptual)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Streams process data chunk-by-chunk instead of loading entire file into RAM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Types: Readable, Writable, Duplex, Transform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Use case: large file upload/download, log tailing, video piping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fs.createReadStream() + pipe() — classic Node pattern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Express req/res objects are streams under the hood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B2B"/>
                </a:solidFill>
              </a:defRPr>
            </a:pPr>
            <a:r>
              <a:t>Raw HTTP server (before Express)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solidFill>
            <a:srgbClr val="F4F4F4"/>
          </a:solidFill>
          <a:ln>
            <a:solidFill>
              <a:srgbClr val="5C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232B2B"/>
                </a:solidFill>
                <a:latin typeface="Consolas"/>
              </a:defRPr>
            </a:pPr>
            <a:r>
              <a:t>const http = require('http');</a:t>
            </a:r>
            <a:br/>
            <a:br/>
            <a:r>
              <a:t>const server = http.createServer((req, res) =&gt; {</a:t>
            </a:r>
            <a:br/>
            <a:r>
              <a:t>  console.log(req.method, req.url);</a:t>
            </a:r>
            <a:br/>
            <a:r>
              <a:t>  res.writeHead(200, { 'Content-Type': 'application/json' });</a:t>
            </a:r>
            <a:br/>
            <a:r>
              <a:t>  res.end(JSON.stringify({ message: 'Hello from raw Node HTTP!' }));</a:t>
            </a:r>
            <a:br/>
            <a:r>
              <a:t>});</a:t>
            </a:r>
            <a:br/>
            <a:br/>
            <a:r>
              <a:t>server.listen(3000, () =&gt; {</a:t>
            </a:r>
            <a:br/>
            <a:r>
              <a:t>  console.log('Server running on http://localhost:3000');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Express builds on Node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const app = express() creates an application object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app.get('/users', handler) registers route + method matching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app.use(middleware) — chain of functions (req, res, next)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Mongoose connect() runs when Node process starts, before routes handle traffic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Full stack: Client → Express routes → Mongoose model → MongoDB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32B2B"/>
                </a:solidFill>
              </a:defRPr>
            </a:pPr>
            <a:r>
              <a:t>Section 9 — Project Structure &amp; package.json</a:t>
            </a:r>
          </a:p>
          <a:p>
            <a:pPr algn="ctr">
              <a:spcBef>
                <a:spcPts val="800"/>
              </a:spcBef>
              <a:defRPr sz="2000">
                <a:solidFill>
                  <a:srgbClr val="5C6C6C"/>
                </a:solidFill>
              </a:defRPr>
            </a:pPr>
            <a:r>
              <a:t>8 min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B2B"/>
                </a:solidFill>
              </a:defRPr>
            </a:pPr>
            <a:r>
              <a:t>Typical Node API project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solidFill>
            <a:srgbClr val="F4F4F4"/>
          </a:solidFill>
          <a:ln>
            <a:solidFill>
              <a:srgbClr val="5C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232B2B"/>
                </a:solidFill>
                <a:latin typeface="Consolas"/>
              </a:defRPr>
            </a:pPr>
            <a:r>
              <a:t>shop-api/</a:t>
            </a:r>
            <a:br/>
            <a:r>
              <a:t>├── package.json</a:t>
            </a:r>
            <a:br/>
            <a:r>
              <a:t>├── .env                 # secrets (gitignored)</a:t>
            </a:r>
            <a:br/>
            <a:r>
              <a:t>├── .env.example         # template for teammates</a:t>
            </a:r>
            <a:br/>
            <a:r>
              <a:t>├── .gitignore</a:t>
            </a:r>
            <a:br/>
            <a:r>
              <a:t>├── server.js            # entry point</a:t>
            </a:r>
            <a:br/>
            <a:r>
              <a:t>├── src/</a:t>
            </a:r>
            <a:br/>
            <a:r>
              <a:t>│   ├── routes/</a:t>
            </a:r>
            <a:br/>
            <a:r>
              <a:t>│   ├── models/          # Mongoose schemas</a:t>
            </a:r>
            <a:br/>
            <a:r>
              <a:t>│   ├── controllers/</a:t>
            </a:r>
            <a:br/>
            <a:r>
              <a:t>│   └── middleware/</a:t>
            </a:r>
            <a:br/>
            <a:r>
              <a:t>└── node_modules/        # gitignored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B2B"/>
                </a:solidFill>
              </a:defRPr>
            </a:pPr>
            <a:r>
              <a:t>package.json scripts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solidFill>
            <a:srgbClr val="F4F4F4"/>
          </a:solidFill>
          <a:ln>
            <a:solidFill>
              <a:srgbClr val="5C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232B2B"/>
                </a:solidFill>
                <a:latin typeface="Consolas"/>
              </a:defRPr>
            </a:pPr>
            <a:r>
              <a:t>{</a:t>
            </a:r>
            <a:br/>
            <a:r>
              <a:t>  "name": "shop-api",</a:t>
            </a:r>
            <a:br/>
            <a:r>
              <a:t>  "version": "1.0.0",</a:t>
            </a:r>
            <a:br/>
            <a:r>
              <a:t>  "main": "server.js",</a:t>
            </a:r>
            <a:br/>
            <a:r>
              <a:t>  "type": "commonjs",</a:t>
            </a:r>
            <a:br/>
            <a:r>
              <a:t>  "scripts": {</a:t>
            </a:r>
            <a:br/>
            <a:r>
              <a:t>    "start": "node server.js",</a:t>
            </a:r>
            <a:br/>
            <a:r>
              <a:t>    "dev": "nodemon server.js",</a:t>
            </a:r>
            <a:br/>
            <a:r>
              <a:t>    "test": "node --test"</a:t>
            </a:r>
            <a:br/>
            <a:r>
              <a:t>  },</a:t>
            </a:r>
            <a:br/>
            <a:r>
              <a:t>  "dependencies": {</a:t>
            </a:r>
            <a:br/>
            <a:r>
              <a:t>    "express": "^4.21.0",</a:t>
            </a:r>
            <a:br/>
            <a:r>
              <a:t>    "mongoose": "^8.0.0",</a:t>
            </a:r>
            <a:br/>
            <a:r>
              <a:t>    "dotenv": "^16.4.0"</a:t>
            </a:r>
            <a:br/>
            <a:r>
              <a:t>  },</a:t>
            </a:r>
            <a:br/>
            <a:r>
              <a:t>  "devDependencies": {</a:t>
            </a:r>
            <a:br/>
            <a:r>
              <a:t>    "nodemon": "^3.1.0"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Common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Using var instead of const/let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Forgetting await on async Mongoose queries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Not handling errors in async route handlers (try/catch or wrapper)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Committing .env or node_modules to GitHub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Blocking the event loop with heavy sync computation in route handlers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Missing process.on('unhandledRejection') logging in production apps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32B2B"/>
                </a:solidFill>
              </a:defRPr>
            </a:pPr>
            <a:r>
              <a:t>Section 10 — Summary &amp; Lab</a:t>
            </a:r>
          </a:p>
          <a:p>
            <a:pPr algn="ctr">
              <a:spcBef>
                <a:spcPts val="800"/>
              </a:spcBef>
              <a:defRPr sz="2000">
                <a:solidFill>
                  <a:srgbClr val="5C6C6C"/>
                </a:solidFill>
              </a:defRPr>
            </a:pPr>
            <a:r>
              <a:t>5 min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Node = V8 + libuv; runs JS outside the browser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Core modules (fs, path, http, process) power every Express app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Event loop: sync → microtasks → macrotasks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Modules organize code; CommonJS &amp; ESM both supported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Express/Mongoose from Day 23 sit on top of these fundamentals</a:t>
            </a:r>
          </a:p>
          <a:p>
            <a:pPr>
              <a:spcAft>
                <a:spcPts val="1000"/>
              </a:spcAft>
              <a:defRPr sz="2000">
                <a:solidFill>
                  <a:srgbClr val="232B2B"/>
                </a:solidFill>
              </a:defRPr>
            </a:pPr>
            <a:r>
              <a:t>Lab today: event loop, fs/path, EventEmitter, raw HTTP server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B2B"/>
                </a:solidFill>
              </a:defRPr>
            </a:pPr>
            <a:r>
              <a:t>Thank you!</a:t>
            </a:r>
          </a:p>
          <a:p>
            <a:pPr>
              <a:spcBef>
                <a:spcPts val="1200"/>
              </a:spcBef>
              <a:defRPr sz="2200">
                <a:solidFill>
                  <a:srgbClr val="5C6C6C"/>
                </a:solidFill>
              </a:defRPr>
            </a:pPr>
            <a:r>
              <a:t>Lab Day 26 · node-basics-lab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