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86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Today we move from in-memory / JSON APIs to persistent data with MongoDB.</a:t>
            </a:r>
          </a:p>
          <a:p>
            <a:r>
              <a:t>Goal: understand what MongoDB is, how documents work, basic CRUD, and how it fits MERN.</a:t>
            </a:r>
          </a:p>
          <a:p>
            <a:r>
              <a:t>Timing: 90 minutes including one short break (~minute 45).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agenda. Mention students should have Node installed from earlier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their mid-exam: DummyJSON was external. Today we own the data store.</a:t>
            </a:r>
          </a:p>
          <a:p>
            <a:r>
              <a:t>Ask: What happens to cart items if user closes browser? (Unless localStorage — still not shared server-side.)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bash SQL — both are tools. MERN traditionally uses MongoDB for flexibility and JS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practical. They're building e-commerce style apps — products + users + orders map naturally to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on whiteboard if available. Tomorrow/later days they'll wire Express to Mongo.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Emphasize: MongoDB Inc. maintains it; community edition is free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Analogy: database = Excel file, collection = sheet, document = row — but rows can have different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to DummyJSON product shape — they'll recognize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don't manipulate BSON directly; know it exists for dates and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Mention: no float money precision — use Decimal128 or store cents as integers for finance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show Atlas signup, create free M0 cluster, allow IP 0.0.0.0/0 for class only, create DB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Never commit passwords. Use .env on server side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insertOne live. Show result insertedId.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 min. Have students copy commands in Compass shell or mongosh.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projection: 1 include, 0 exclude (except _id rules).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Common mistake: passing { price: 10 } without $set replaces wrong in older APIs — always use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Warn about deleteMany({}) — wipes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room. ★ Good break point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Array.filter they used in React — same logic, different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implicit AND: { price: { $gt: 10 }, inStock: true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nested arrays of objects, elemMatch is essential — brief example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Don't deep-dive indexes here — next section covers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Preview only — full aggregation is a later lecture. Run once in Compass if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 of thumb: embed what you read together; reference what grows unbounded.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with SQL normalized order + order_items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populate() in Mongoose for JOIN-like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 for small projects but good for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explain() in Compass — examine totalDocsExamined vs nReturned.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Next lab/day: npm install mongoose, connect, define Product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timestamps: true adds createdAt/updatedAt — highlight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Connects to their React fetch/Redux patterns — same JSON, now from their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 injection: { "$gt": "" } in login — use typed queries / Mongoose.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Pagination: for production prefer cursor-based over large skip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ObjectId vs string: use new ObjectId(id) or mongoose.Types.ObjectId.isValid.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to lab PDF if you publish one. Align with future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 min Q&amp;A. Assign reading: MongoDB University M001 first chapters (free).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office hours. Share connection troubleshooting doc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Introduction to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C6C6C"/>
                </a:solidFill>
              </a:defRPr>
            </a:pPr>
            <a:r>
              <a:t>MERN Stack · Week 5 · Day 22 · 90-minute lecture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3125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Why databases? SQL vs NoSQL </a:t>
            </a:r>
            <a:endParaRPr lang="en-US" dirty="0"/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MongoDB architecture &amp; terminology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Documents, BSON &amp; data types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CRUD in MongoDB Shell &amp; Compass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Queries, operators &amp; aggregation preview 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Indexes, schema design &amp; valida</a:t>
            </a:r>
            <a:r>
              <a:rPr lang="en-US" dirty="0"/>
              <a:t>tion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MongoDB Atlas, install &amp; MERN previe</a:t>
            </a:r>
            <a:r>
              <a:rPr lang="en-US" dirty="0"/>
              <a:t>w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Summary, lab preview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69967" y="2660468"/>
            <a:ext cx="38768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1 · Why databases?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The problem: data disappears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React state, Redux, and variables live only in memory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Restart the server or refresh — data is gone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Real apps need data that survives crashes, deploys, and multiple users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 database is persistent, structured storage with rules for read/write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3588" y="904815"/>
            <a:ext cx="67036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rPr sz="3200" dirty="0"/>
              <a:t>Relational (SQL) vs Document (NoSQL)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05594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SQL (PostgreSQL, MySQL): tables, rows, columns, JOINs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NoSQL: many models — document, key-value, graph, column-family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MongoDB is a document database: data stored as JSON-like documents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Flexible schema — great for evolving MERN apps and nested objects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Trade-off: less enforced structure than SQL; design discipline still matters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9577" y="1121228"/>
            <a:ext cx="44301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rPr sz="3200" dirty="0"/>
              <a:t>When MongoDB fits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23309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Content management, catalogs, user profiles with varying fields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Rapid prototyping and agile product changes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Nested data (address, cart items) without many JOINs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Horizontal scaling via </a:t>
            </a:r>
            <a:r>
              <a:rPr sz="2000" dirty="0" err="1"/>
              <a:t>sharding</a:t>
            </a:r>
            <a:r>
              <a:rPr sz="2000" dirty="0"/>
              <a:t> (advanced — mention only)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sz="2000" dirty="0"/>
              <a:t>• Less ideal: heavy multi-table transactions, complex reporting-only workloads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rPr dirty="0"/>
              <a:t>MERN stack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 — MongoDB (database)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 — Express (API server on Node)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 — React (frontend)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 — Node.js (JavaScript runtime)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Flow: React → HTTP → Express → MongoDB driver / Mongoose →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Browser  --fetch--&gt;  Express API  --driver--&gt;  MongoDB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61386" y="2320834"/>
            <a:ext cx="54212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2 · MongoDB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What is MongoDB?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Open-source document database (since 2007; now also Atlas cloud)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Stores data in BSON (Binary JSON) format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Server listens on default port 27017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Tools: </a:t>
            </a:r>
            <a:r>
              <a:rPr dirty="0" err="1"/>
              <a:t>mongosh</a:t>
            </a:r>
            <a:r>
              <a:rPr dirty="0"/>
              <a:t> (shell), Compass (GUI), Atlas (hosted)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Free tier Atlas is fine for learning and small projects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Hierarchy: database → collection →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Database — container (e.g. </a:t>
            </a:r>
            <a:r>
              <a:rPr dirty="0" err="1"/>
              <a:t>shop_db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Collection — group of documents (e.g. products) — like a table, no fixed columns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Document — single record, one BSON object with _id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_id is unique per document; auto-generated </a:t>
            </a:r>
            <a:r>
              <a:rPr dirty="0" err="1"/>
              <a:t>ObjectId</a:t>
            </a:r>
            <a:r>
              <a:rPr dirty="0"/>
              <a:t> if omitted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shop_db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└── products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  { "_id": ObjectId("..."), "title": "Phone", "price": 499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  { "_id": ObjectId("..."), "title": "Laptop", "price": 999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Document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Fields can be strings, numbers, arrays, embedded objects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Arrays support lists (tags, image URLs)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Embedded docs avoid JOINs for one-to-few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"_id": ObjectId("665a1b2c3d4e5f678901234"),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"title": "iPhone 15",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"price": 999,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"category": "smartphones",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"tags": ["apple", "5g"],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"specs": { "storage": "128GB", "color": "black"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JSON vs BSON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JSON — text format used in APIs and browsers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BSON — MongoDB's binary storage; supports more types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Extra types: </a:t>
            </a:r>
            <a:r>
              <a:rPr dirty="0" err="1"/>
              <a:t>ObjectId</a:t>
            </a:r>
            <a:r>
              <a:rPr dirty="0"/>
              <a:t>, Date, Decimal128, </a:t>
            </a:r>
            <a:r>
              <a:rPr dirty="0" err="1"/>
              <a:t>BinData</a:t>
            </a:r>
            <a:r>
              <a:rPr dirty="0"/>
              <a:t>, etc.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Drivers convert between JS objects and BSON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Extended JSON: { "$</a:t>
            </a:r>
            <a:r>
              <a:rPr dirty="0" err="1"/>
              <a:t>oid</a:t>
            </a:r>
            <a:r>
              <a:rPr dirty="0"/>
              <a:t>": "..." } when exporting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Common BSON / document data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String, Number (int/double), Boolean, Null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Date — UTC stored as BSON Date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ObjectId — 12-byte identifier (timestamp + machine + counter)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Array — ordered list [1, 2, 3]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Embedded document — nested object { ...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8440" y="2511474"/>
            <a:ext cx="44671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3 · Setup: local &amp; Atlas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Installation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MongoDB Community Server — local install (Windows/Mac/Linux)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MongoDB Atlas — cloud cluster (recommended for class)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Docker — </a:t>
            </a:r>
            <a:r>
              <a:rPr dirty="0" err="1"/>
              <a:t>mongodb</a:t>
            </a:r>
            <a:r>
              <a:rPr dirty="0"/>
              <a:t> image for dev teams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After install: run </a:t>
            </a:r>
            <a:r>
              <a:rPr dirty="0" err="1"/>
              <a:t>mongod</a:t>
            </a:r>
            <a:r>
              <a:rPr dirty="0"/>
              <a:t> (server) and connect with </a:t>
            </a:r>
            <a:r>
              <a:rPr dirty="0" err="1"/>
              <a:t>mongosh</a:t>
            </a:r>
            <a:r>
              <a:rPr dirty="0"/>
              <a:t> or Compass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MongoDB Compass &amp;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Compass — visual GUI: browse, filter, insert, explain plans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</a:t>
            </a:r>
            <a:r>
              <a:rPr dirty="0" err="1"/>
              <a:t>mongosh</a:t>
            </a:r>
            <a:r>
              <a:rPr dirty="0"/>
              <a:t> — JavaScript shell in terminal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Both connect via connection string: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mongodb+srv://&lt;user&gt;:&lt;password&gt;@cluster0.xxxxx.mongodb.net/shop_db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First commands in mongosh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show </a:t>
            </a:r>
            <a:r>
              <a:rPr dirty="0" err="1"/>
              <a:t>dbs</a:t>
            </a:r>
            <a:r>
              <a:rPr dirty="0"/>
              <a:t> — list databases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use </a:t>
            </a:r>
            <a:r>
              <a:rPr dirty="0" err="1"/>
              <a:t>shop_db</a:t>
            </a:r>
            <a:r>
              <a:rPr dirty="0"/>
              <a:t> — switch/create database context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show collections — list collections in current DB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</a:t>
            </a:r>
            <a:r>
              <a:rPr dirty="0" err="1"/>
              <a:t>db.products.insertOne</a:t>
            </a:r>
            <a:r>
              <a:rPr dirty="0"/>
              <a:t>({ title: "Test" }) — create collection + doc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mongosh "mongodb://localhost:27017"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use shop_db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db.products.insertOne({ title: "Hello MongoDB", price: 0 })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65681" y="2782669"/>
            <a:ext cx="40126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4 · CRUD operations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rPr dirty="0"/>
              <a:t>Create — </a:t>
            </a:r>
            <a:r>
              <a:rPr dirty="0" err="1"/>
              <a:t>insertOne</a:t>
            </a:r>
            <a:r>
              <a:rPr dirty="0"/>
              <a:t> &amp; </a:t>
            </a:r>
            <a:r>
              <a:rPr dirty="0" err="1"/>
              <a:t>insertMany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861457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</a:t>
            </a:r>
            <a:r>
              <a:rPr dirty="0" err="1"/>
              <a:t>insertOne</a:t>
            </a:r>
            <a:r>
              <a:rPr dirty="0"/>
              <a:t>(document) — single document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</a:t>
            </a:r>
            <a:r>
              <a:rPr dirty="0" err="1"/>
              <a:t>insertMany</a:t>
            </a:r>
            <a:r>
              <a:rPr dirty="0"/>
              <a:t>([...]) — batch insert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Server adds _id if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db.products.insertOne({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title: "Wireless Mouse",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price: 29.99,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category: "accessories",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inStock: true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db.products.insertMany([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title: "Keyboard", price: 59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title: "Monitor", price: 199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])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Read — find &amp; findOne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find(filter, projection) — cursor of matching documents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</a:t>
            </a:r>
            <a:r>
              <a:rPr dirty="0" err="1"/>
              <a:t>findOne</a:t>
            </a:r>
            <a:r>
              <a:rPr dirty="0"/>
              <a:t>(filter) — first match or null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Empty filter {} returns all documents (use limit!)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.limit(n) .sort({ field: 1|-1 }) .skip(n) chain on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category: "accessories"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db.products.findOne({ title: "Wireless Mouse"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db.products.find({}, { title: 1, price: 1, _id: 0 })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Update — updateOne, updateMany, replaceOne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$set — add or change fields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$inc — increment numbers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$push / $pull — array add/remove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updateOne(filter, update) — first match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replaceOne — replaces entire document (careful!)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db.products.updateOne(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title: "Wireless Mouse"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$set: { price: 24.99 }, $inc: { views: 1 }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db.products.updateMany(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category: "accessories"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$set: { onSale: true }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Delete — deleteOne &amp; deleteMany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deleteOne(filter) — removes first match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deleteMany(filter) — removes all matches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Returns deletedCount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No "trash" — deletions are permanent unless using transactions/backups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db.products.deleteOne({ title: "Test"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db.products.deleteMany({ inStock: false })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Live exercise (5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Create collection users with 3 sample documents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Find users older than 25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Update one user's email with $set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Delete one user by _id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Check counts: db.users.countDocuments()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rPr dirty="0" err="1"/>
              <a:t>db.users.insertMany</a:t>
            </a:r>
            <a:r>
              <a:rPr dirty="0"/>
              <a:t>([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rPr dirty="0"/>
              <a:t>  { name: "Ali", age: 22, email: "ali@test.com"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rPr dirty="0"/>
              <a:t>  { name: "Sara", age: 28, email: "sara@test.com"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rPr dirty="0"/>
              <a:t>  { name: "Omar", age: 30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rPr dirty="0"/>
              <a:t>])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7429" y="2312125"/>
            <a:ext cx="388914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002060"/>
                </a:solidFill>
              </a:rPr>
              <a:t>5 · Query operators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$eq, $ne — equal / not equal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$gt, $gte, $lt, $lte — numeric/date comparisons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$in, $nin — match any value in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price: { $gte: 50, $lte: 200 }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category: { $in: ["phones", "tablets"] } })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$and — all conditions (default when comma-separated)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$or — at least one condition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$not, $nor — negation (use carefully)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$or: [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{ price: { $lt: 20 }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{ onSale: true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]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Element &amp; array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$exists — field present or not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$type — BSON type check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$all, $size — array conditions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$elemMatch — match array element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tags: "5g" })  // contains value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tags: { $all: ["apple", "5g"] } })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Text search &amp; regex (intro)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Regex: { title: { $regex: /phone/</a:t>
            </a:r>
            <a:r>
              <a:rPr dirty="0" err="1"/>
              <a:t>i</a:t>
            </a:r>
            <a:r>
              <a:rPr dirty="0"/>
              <a:t> } } — flexible, can be slow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Text index + $text search — better for full-text (setup index first)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rPr dirty="0"/>
              <a:t>• Atlas Search — advanced hosted </a:t>
            </a:r>
            <a:r>
              <a:t>featur</a:t>
            </a:r>
            <a:r>
              <a:rPr lang="en-US"/>
              <a:t>e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Aggregation pipeline (preview)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Pipeline stages process documents in sequence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Common stages: $match, $group, $sort, $project, $limit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Like SQL GROUP BY + SELECT combined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Example: average price per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db.products.aggregate([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$match: { inStock: true }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$group: { _id: "$category", avgPrice: { $avg: "$price" }, count: { $sum: 1 } }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{ $sort: { avgPrice: -1 }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])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 · Schema design &amp;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~10 minutes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Schema flexibility vs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MongoDB is schemaless at database level — collections can mix shapes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Application should enforce consistent shape (Mongoose schemas help)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Embedding vs referencing: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  • Embed — one-to-few, read together (specs inside product)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  • Reference — one-to-many, shared data (userId on orders)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Embedding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Order with embedded line items (good for read-heavy checkout)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"_id": ObjectId("..."),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"userId": ObjectId("..."),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"items": [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{ "productId": ObjectId("..."), "title": "Mouse", "qty": 2, "price": 29.99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],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"total": 59.98,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"createdAt": ISODate("2026-05-19T10:00:00Z")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Referencing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products collection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{ "_id": ObjectId("aaa"), "title": "Mouse", "price": 29.99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orders collection — references product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{ "userId": ObjectId("u1"), "productId": ObjectId("aaa"), "qty": 2 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Validation (JSON Schema)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db.createCollection with validator enforces rules at insert/update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Levels: strict, moderate (default for existing docs)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adds another layer in Node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db.createCollection("products",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validator: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$jsonSchema: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bsonType: "object",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required: ["title", "price"],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properties: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  title: { bsonType: "string"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  price: { bsonType: ["int", "double"], minimum: 0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Indexes — why &amp;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Without index: collection scan (slow on large data)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Index — B-tree structure on field(s) for fast lookups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createIndex({ field: 1 }) ascending, -1 descending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Compound index: { category: 1, price: -1 }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_id index exists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db.products.createIndex({ title: 1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db.products.createIndex({ category: 1, price: -1 })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db.products.find({ category: "phones" }).explain("executionStats")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 · Node.js &amp; Mongoose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~8 minutes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Drivers vs Mongoose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mongodb native driver — low-level, full control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 — ODM (Object Document Mapper) on top of driver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Mongoose: schemas, middleware, virtuals, populate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Most MERN tutorials use Mongoose for Express APIs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Mongoose quick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import mongoose from "mongoose";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await mongoose.connect(process.env.MONGO_URI);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productSchema = new mongoose.Schema({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title: { type: String, required: true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price: { type: Number, min: 0 },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category: String,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}, { timestamps: true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Product = mongoose.model("Product", productSchema);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const products = await Product.find({ category: "phones" });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Express API sketch (coming soon)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8229600" cy="265176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// GET /api/products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app.get("/api/products", async (req, res) =&gt;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try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const products = await Product.find();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res.json(products);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 catch (err) {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  res.status(500).json({ message: err.message });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232B2B"/>
                </a:solidFill>
                <a:latin typeface="Consolas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Security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Never expose MongoDB port directly to the internet without auth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Store MONGO_URI in .env — not in Git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Use least-privilege DB users (readWrite on one DB only)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Validate &amp; sanitize input on Express before queries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Beware NoSQL injection: treat user input as data, not query code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2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 · Best practices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ED64"/>
                </a:solidFill>
              </a:defRPr>
            </a:pPr>
            <a:r>
              <a:t>~8 minutes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Best practices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Design schema for how you query (not how you store in SQL habit)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Index fields you filter and sort on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Use pagination: .limit() + .skip() or cursor-based (_id &gt; last)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Back up Atlas clusters; test restore once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Use meaningful field names; avoid deep nesting (&gt;3 levels)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Common mistakes beginners make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Forgetting $set in updates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Querying without limits on large collections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Storing passwords in plain text (always hash in Express!)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Creating a new connection per request (reuse one pool)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Mixing string _id with ObjectId in filters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Lab / homework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Install Compass or use Atlas; create shop_db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Seed products collection (5+ documents)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Practice CRUD + 3 queries using $gt, $in, $or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Create one compound index; run explain()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Optional: read Mongoose connect docs for next class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B2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MongoDB stores flexible JSON-like documents in collections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CRUD: insert/find/update/delete with operators ($set, $gt, …)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Schema is flexible — you design embed vs reference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Indexes speed queries; validation protects data quality</a:t>
            </a:r>
          </a:p>
          <a:p>
            <a:pPr>
              <a:spcAft>
                <a:spcPts val="600"/>
              </a:spcAft>
              <a:defRPr sz="1800">
                <a:solidFill>
                  <a:srgbClr val="232B2B"/>
                </a:solidFill>
              </a:defRPr>
            </a:pPr>
            <a:r>
              <a:t>• MERN: Express + Mongoose will replace DummyJSON for real persistence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32B2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C6C6C"/>
                </a:solidFill>
              </a:defRPr>
            </a:pPr>
            <a:r>
              <a:t>Questions? · Lab starts after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" cy="73152"/>
          </a:xfrm>
          <a:prstGeom prst="rect">
            <a:avLst/>
          </a:prstGeom>
          <a:solidFill>
            <a:srgbClr val="00E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3275</Words>
  <Application>Microsoft Office PowerPoint</Application>
  <PresentationFormat>On-screen Show (4:3)</PresentationFormat>
  <Paragraphs>346</Paragraphs>
  <Slides>46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Abid Ali</cp:lastModifiedBy>
  <cp:revision>2</cp:revision>
  <dcterms:created xsi:type="dcterms:W3CDTF">2013-01-27T09:14:16Z</dcterms:created>
  <dcterms:modified xsi:type="dcterms:W3CDTF">2026-05-19T11:15:51Z</dcterms:modified>
  <cp:category/>
</cp:coreProperties>
</file>