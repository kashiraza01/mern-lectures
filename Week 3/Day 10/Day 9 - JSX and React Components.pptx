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0E137-8262-4FCC-BB23-F9E5C492B9AD}" type="datetimeFigureOut">
              <a:rPr lang="en-PK" smtClean="0"/>
              <a:t>29/04/2026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FB71E2-4522-419E-AC6A-A26A1DB22EC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38222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 minutes. Ask: Who has run npm/vite before?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demos short; students mirror on laptops after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idea: show a tiny App.jsx changing text — hot reload.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Avoid React.createClass — legacy. Mention hooks preview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30 seconds: everyone confirm localhost loads default Vite React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What file extension do we use for React in Vite? (.jsx)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with students: when would you choose &amp;&amp; vs ternary?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Trap: {} expects expressions — not if/for statements (use ternary / &amp;&amp;).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DevTools warning if key is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 poll: Why does reordering break with index keys?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Default export vs named export — pick one pattern per mini-project.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Defaults keep call sites short — override only what differs.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Activity (3 min): Point at any slide UI and name 3 candidate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Tease: Next class connects buttons/forms to component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Keeps energy up before Part 4 props.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Q&amp;A — remind lab duration ~90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9 — JSX and React Components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MERN Stack Bootcamp(JavaScript)</a:t>
            </a:r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Instructor: Abid Ali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Write valid JSX including expressions, </a:t>
            </a:r>
            <a:r>
              <a:rPr dirty="0" err="1"/>
              <a:t>className</a:t>
            </a:r>
            <a:r>
              <a:rPr dirty="0"/>
              <a:t>, and fragments.</a:t>
            </a:r>
          </a:p>
          <a:p>
            <a:pPr>
              <a:defRPr sz="2000"/>
            </a:pPr>
            <a:r>
              <a:rPr dirty="0"/>
              <a:t>Create and compose function components with export/import.</a:t>
            </a:r>
          </a:p>
          <a:p>
            <a:pPr>
              <a:defRPr sz="2000"/>
            </a:pPr>
            <a:r>
              <a:rPr dirty="0"/>
              <a:t>Pass and receive props and render lists with stable keys.</a:t>
            </a:r>
          </a:p>
          <a:p>
            <a:pPr>
              <a:defRPr sz="2000"/>
            </a:pPr>
            <a:r>
              <a:rPr dirty="0"/>
              <a:t>Navigate a </a:t>
            </a:r>
            <a:r>
              <a:rPr dirty="0" err="1"/>
              <a:t>Vite</a:t>
            </a:r>
            <a:r>
              <a:rPr dirty="0"/>
              <a:t> React project structure and run the dev server.</a:t>
            </a:r>
          </a:p>
          <a:p>
            <a:pPr>
              <a:defRPr sz="2000"/>
            </a:pPr>
            <a:r>
              <a:rPr dirty="0"/>
              <a:t>Refactor monolithic JSX into smaller reusable components.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(~90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Context: React mental model &amp; toolchain refresh</a:t>
            </a:r>
          </a:p>
          <a:p>
            <a:pPr>
              <a:defRPr sz="2000"/>
            </a:pPr>
            <a:r>
              <a:rPr dirty="0"/>
              <a:t>JSX rules: expressions, attributes, fragments, lists</a:t>
            </a:r>
          </a:p>
          <a:p>
            <a:pPr>
              <a:defRPr sz="2000"/>
            </a:pPr>
            <a:r>
              <a:rPr dirty="0"/>
              <a:t>Function components, imports, composition, folders</a:t>
            </a:r>
          </a:p>
          <a:p>
            <a:pPr>
              <a:defRPr sz="2000"/>
            </a:pPr>
            <a:r>
              <a:rPr dirty="0"/>
              <a:t>Props: passing data, children, keys in lists</a:t>
            </a:r>
          </a:p>
          <a:p>
            <a:pPr>
              <a:defRPr sz="2000"/>
            </a:pPr>
            <a:r>
              <a:rPr dirty="0"/>
              <a:t>Patterns: when to split; recap &amp; next step</a:t>
            </a:r>
            <a:r>
              <a:rPr lang="en-US" dirty="0"/>
              <a:t>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Part 1 — React &amp; toolchain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component-driven UI?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Split the UI into independent, reusable pieces.</a:t>
            </a:r>
          </a:p>
          <a:p>
            <a:pPr>
              <a:defRPr sz="2000"/>
            </a:pPr>
            <a:r>
              <a:t>Each piece (component) returns JSX describing what to render.</a:t>
            </a:r>
          </a:p>
          <a:p>
            <a:pPr>
              <a:defRPr sz="2000"/>
            </a:pPr>
            <a:r>
              <a:t>React reconciles updates efficiently against the DOM.</a:t>
            </a:r>
          </a:p>
          <a:p>
            <a:pPr>
              <a:defRPr sz="2000"/>
            </a:pPr>
            <a:r>
              <a:t>Today: static composition + props (state comes later in depth).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1"/>
            <a:ext cx="8229600" cy="1933302"/>
          </a:xfrm>
        </p:spPr>
        <p:txBody>
          <a:bodyPr>
            <a:normAutofit/>
          </a:bodyPr>
          <a:lstStyle/>
          <a:p>
            <a:r>
              <a:rPr dirty="0"/>
              <a:t>Modern React (what we use in this course)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43794"/>
            <a:ext cx="8229600" cy="2982369"/>
          </a:xfrm>
        </p:spPr>
        <p:txBody>
          <a:bodyPr/>
          <a:lstStyle/>
          <a:p>
            <a:pPr>
              <a:defRPr sz="2000"/>
            </a:pPr>
            <a:r>
              <a:rPr dirty="0"/>
              <a:t>Function components + JSX (no class components required).</a:t>
            </a:r>
          </a:p>
          <a:p>
            <a:pPr>
              <a:defRPr sz="2000"/>
            </a:pPr>
            <a:r>
              <a:rPr dirty="0"/>
              <a:t>Modules (ESM): import/export between files.</a:t>
            </a:r>
          </a:p>
          <a:p>
            <a:pPr>
              <a:defRPr sz="2000"/>
            </a:pPr>
            <a:r>
              <a:rPr dirty="0"/>
              <a:t>Build tool: </a:t>
            </a:r>
            <a:r>
              <a:rPr dirty="0" err="1"/>
              <a:t>Vite</a:t>
            </a:r>
            <a:r>
              <a:rPr dirty="0"/>
              <a:t> — fast dev server &amp; optimized production builds.</a:t>
            </a:r>
          </a:p>
          <a:p>
            <a:pPr>
              <a:defRPr sz="2000"/>
            </a:pPr>
            <a:r>
              <a:rPr dirty="0"/>
              <a:t>React 18+/19: root API </a:t>
            </a:r>
            <a:r>
              <a:rPr dirty="0" err="1"/>
              <a:t>createRoot</a:t>
            </a:r>
            <a:r>
              <a:rPr dirty="0"/>
              <a:t>; JSX transform handled by tooling.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6434" y="719092"/>
            <a:ext cx="8229600" cy="1143000"/>
          </a:xfrm>
        </p:spPr>
        <p:txBody>
          <a:bodyPr/>
          <a:lstStyle/>
          <a:p>
            <a:r>
              <a:rPr dirty="0"/>
              <a:t>Checkpoint — dev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9943" y="2211977"/>
            <a:ext cx="8229600" cy="4184152"/>
          </a:xfrm>
        </p:spPr>
        <p:txBody>
          <a:bodyPr/>
          <a:lstStyle/>
          <a:p>
            <a:pPr>
              <a:defRPr sz="2000"/>
            </a:pPr>
            <a:r>
              <a:rPr dirty="0"/>
              <a:t>Terminal: </a:t>
            </a:r>
            <a:r>
              <a:rPr dirty="0" err="1"/>
              <a:t>npm</a:t>
            </a:r>
            <a:r>
              <a:rPr dirty="0"/>
              <a:t> run dev → keep it running during lecture/lab.</a:t>
            </a:r>
          </a:p>
          <a:p>
            <a:pPr>
              <a:defRPr sz="2000"/>
            </a:pPr>
            <a:r>
              <a:rPr dirty="0"/>
              <a:t>Browser + editor side-by-side — save file → UI updates (Fast Refresh).</a:t>
            </a:r>
          </a:p>
          <a:p>
            <a:pPr>
              <a:defRPr sz="2000"/>
            </a:pPr>
            <a:r>
              <a:rPr dirty="0"/>
              <a:t>If something breaks: read the error overlay first — line numbers point to JSX.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Vite does for us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Dev server: serves modules, transforms JSX on the fly.</a:t>
            </a:r>
          </a:p>
          <a:p>
            <a:pPr>
              <a:defRPr sz="2000"/>
            </a:pPr>
            <a:r>
              <a:rPr dirty="0"/>
              <a:t>Production build: bundles, minifies, hashes filenames for caching.</a:t>
            </a:r>
          </a:p>
          <a:p>
            <a:pPr>
              <a:defRPr sz="2000"/>
            </a:pPr>
            <a:r>
              <a:rPr dirty="0"/>
              <a:t>You mostly edit </a:t>
            </a:r>
            <a:r>
              <a:rPr dirty="0" err="1"/>
              <a:t>src</a:t>
            </a:r>
            <a:r>
              <a:rPr dirty="0"/>
              <a:t>/*.</a:t>
            </a:r>
            <a:r>
              <a:rPr dirty="0" err="1"/>
              <a:t>jsx</a:t>
            </a:r>
            <a:r>
              <a:rPr dirty="0"/>
              <a:t> — config stays minimal early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Diagram — JSX compilation pipeline</a:t>
            </a:r>
          </a:p>
        </p:txBody>
      </p:sp>
      <p:pic>
        <p:nvPicPr>
          <p:cNvPr id="3" name="Picture 2" descr="jsx_comp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97280"/>
            <a:ext cx="1051560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Your editor/source shows JSX; the bundler compiles it to JavaScript React can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Part 2 — JSX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531" y="444455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JSX is a syntax extension — not a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0503" y="2199232"/>
            <a:ext cx="8229600" cy="2355352"/>
          </a:xfrm>
        </p:spPr>
        <p:txBody>
          <a:bodyPr/>
          <a:lstStyle/>
          <a:p>
            <a:pPr>
              <a:defRPr sz="2000"/>
            </a:pPr>
            <a:r>
              <a:rPr dirty="0"/>
              <a:t>Looks like HTML but lives inside JavaScript.</a:t>
            </a:r>
          </a:p>
          <a:p>
            <a:pPr>
              <a:defRPr sz="2000"/>
            </a:pPr>
            <a:r>
              <a:rPr dirty="0"/>
              <a:t>Must return a single root per component return (or use a fragment).</a:t>
            </a:r>
          </a:p>
          <a:p>
            <a:pPr>
              <a:defRPr sz="2000"/>
            </a:pPr>
            <a:r>
              <a:rPr dirty="0"/>
              <a:t>Curly braces {} embed JavaScript expressions.</a:t>
            </a:r>
          </a:p>
          <a:p>
            <a:pPr>
              <a:defRPr sz="2000"/>
            </a:pPr>
            <a:r>
              <a:rPr dirty="0" err="1"/>
              <a:t>className</a:t>
            </a:r>
            <a:r>
              <a:rPr dirty="0"/>
              <a:t> (not class) for CSS classes.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314" y="274638"/>
            <a:ext cx="9653451" cy="1143000"/>
          </a:xfrm>
        </p:spPr>
        <p:txBody>
          <a:bodyPr>
            <a:normAutofit fontScale="90000"/>
          </a:bodyPr>
          <a:lstStyle/>
          <a:p>
            <a:r>
              <a:rPr dirty="0"/>
              <a:t>Attributes in JSX — camelCase everywhere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4445" y="2107474"/>
            <a:ext cx="8229600" cy="4525963"/>
          </a:xfrm>
        </p:spPr>
        <p:txBody>
          <a:bodyPr/>
          <a:lstStyle/>
          <a:p>
            <a:pPr>
              <a:defRPr sz="2000"/>
            </a:pPr>
            <a:r>
              <a:rPr dirty="0"/>
              <a:t>DOM/React synthetic events: </a:t>
            </a:r>
            <a:r>
              <a:rPr dirty="0" err="1"/>
              <a:t>onClick</a:t>
            </a:r>
            <a:r>
              <a:rPr dirty="0"/>
              <a:t>, </a:t>
            </a:r>
            <a:r>
              <a:rPr dirty="0" err="1"/>
              <a:t>onChange</a:t>
            </a:r>
            <a:r>
              <a:rPr dirty="0"/>
              <a:t> (camelCase).</a:t>
            </a:r>
          </a:p>
          <a:p>
            <a:pPr>
              <a:defRPr sz="2000"/>
            </a:pPr>
            <a:r>
              <a:rPr dirty="0"/>
              <a:t>ARIA / accessibility still matter: </a:t>
            </a:r>
            <a:r>
              <a:rPr dirty="0" err="1"/>
              <a:t>htmlFor</a:t>
            </a:r>
            <a:r>
              <a:rPr dirty="0"/>
              <a:t> links labels to inputs.</a:t>
            </a:r>
          </a:p>
          <a:p>
            <a:pPr>
              <a:defRPr sz="2000"/>
            </a:pPr>
            <a:r>
              <a:rPr dirty="0"/>
              <a:t>data-* attributes stay lowercase — passthrough to DOM.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Conditional UI in JSX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 logical &amp;&amp; when you want “render nothing OR something”.</a:t>
            </a:r>
          </a:p>
          <a:p>
            <a:pPr>
              <a:defRPr sz="2000"/>
            </a:pPr>
            <a:r>
              <a:t>Use ternary (cond ? a : b) when both branches are JSX/text.</a:t>
            </a:r>
          </a:p>
          <a:p>
            <a:pPr>
              <a:defRPr sz="2000"/>
            </a:pPr>
            <a:r>
              <a:t>Do not put if/for statements directly inside { } — assign to a variable first.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Patterns — &amp;&amp; and ternary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nsolas"/>
              </a:defRPr>
            </a:pPr>
            <a:r>
              <a:rPr sz="1400" dirty="0">
                <a:latin typeface="Consolas"/>
              </a:rPr>
              <a:t>function Status({ count }) {</a:t>
            </a:r>
            <a:br>
              <a:rPr dirty="0"/>
            </a:br>
            <a:r>
              <a:rPr sz="1400" dirty="0">
                <a:latin typeface="Consolas"/>
              </a:rPr>
              <a:t>  return (</a:t>
            </a:r>
            <a:br>
              <a:rPr dirty="0"/>
            </a:br>
            <a:r>
              <a:rPr sz="1400" dirty="0">
                <a:latin typeface="Consolas"/>
              </a:rPr>
              <a:t>    &lt;div </a:t>
            </a:r>
            <a:r>
              <a:rPr sz="1400" dirty="0" err="1">
                <a:latin typeface="Consolas"/>
              </a:rPr>
              <a:t>className</a:t>
            </a:r>
            <a:r>
              <a:rPr sz="1400" dirty="0">
                <a:latin typeface="Consolas"/>
              </a:rPr>
              <a:t>="status"&gt;</a:t>
            </a:r>
            <a:br>
              <a:rPr dirty="0"/>
            </a:br>
            <a:r>
              <a:rPr sz="1400" dirty="0">
                <a:latin typeface="Consolas"/>
              </a:rPr>
              <a:t>      {count &gt; 0 &amp;&amp; &lt;span&gt;{count} items&lt;/span&gt;}</a:t>
            </a:r>
            <a:br>
              <a:rPr dirty="0"/>
            </a:br>
            <a:r>
              <a:rPr sz="1400" dirty="0">
                <a:latin typeface="Consolas"/>
              </a:rPr>
              <a:t>      {count === 0 ? &lt;p&gt;Cart is empty&lt;/p&gt; : null}</a:t>
            </a:r>
            <a:br>
              <a:rPr dirty="0"/>
            </a:br>
            <a:r>
              <a:rPr sz="1400" dirty="0">
                <a:latin typeface="Consolas"/>
              </a:rPr>
              <a:t>    &lt;/div&gt;</a:t>
            </a:r>
            <a:br>
              <a:rPr dirty="0"/>
            </a:br>
            <a:r>
              <a:rPr sz="1400" dirty="0">
                <a:latin typeface="Consolas"/>
              </a:rPr>
              <a:t>  );</a:t>
            </a:r>
            <a:br>
              <a:rPr dirty="0"/>
            </a:b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Expressions inside JSX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nsolas"/>
              </a:defRPr>
            </a:pPr>
            <a:r>
              <a:rPr sz="1400">
                <a:latin typeface="Consolas"/>
              </a:rPr>
              <a:t>function Banner({ userName }) {</a:t>
            </a:r>
            <a:br/>
            <a:r>
              <a:rPr sz="1400">
                <a:latin typeface="Consolas"/>
              </a:rPr>
              <a:t>  const hour = new Date().getHours();</a:t>
            </a:r>
            <a:br/>
            <a:r>
              <a:rPr sz="1400">
                <a:latin typeface="Consolas"/>
              </a:rPr>
              <a:t>  const greeting = hour &lt; 12 ? "Morning" : "Hello";</a:t>
            </a:r>
            <a:br/>
            <a:br/>
            <a:r>
              <a:rPr sz="1400">
                <a:latin typeface="Consolas"/>
              </a:rPr>
              <a:t>  return (</a:t>
            </a:r>
            <a:br/>
            <a:r>
              <a:rPr sz="1400">
                <a:latin typeface="Consolas"/>
              </a:rPr>
              <a:t>    &lt;header className="banner"&gt;</a:t>
            </a:r>
            <a:br/>
            <a:r>
              <a:rPr sz="1400">
                <a:latin typeface="Consolas"/>
              </a:rPr>
              <a:t>      &lt;p&gt;{greeting}, {userName}!&lt;/p&gt;</a:t>
            </a:r>
            <a:br/>
            <a:r>
              <a:rPr sz="1400">
                <a:latin typeface="Consolas"/>
              </a:rPr>
              <a:t>      &lt;small&gt;Year {new Date().getFullYear()}&lt;/small&gt;</a:t>
            </a:r>
            <a:br/>
            <a:r>
              <a:rPr sz="1400">
                <a:latin typeface="Consolas"/>
              </a:rPr>
              <a:t>    &lt;/header&gt;</a:t>
            </a:r>
            <a:br/>
            <a:r>
              <a:rPr sz="1400">
                <a:latin typeface="Consolas"/>
              </a:rPr>
              <a:t>  );</a:t>
            </a:r>
            <a:br/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Diagram — JSX vs HTML habits</a:t>
            </a:r>
          </a:p>
        </p:txBody>
      </p:sp>
      <p:pic>
        <p:nvPicPr>
          <p:cNvPr id="3" name="Picture 2" descr="jsx_vs_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515600" cy="434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Memorize the JSX equivalents — Linters (ESLint) catch many mistakes.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Self-closing tags &amp; booleans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Always close void elements in JSX: &lt;img /&gt;, &lt;input /&gt;, &lt;br /&gt;.</a:t>
            </a:r>
          </a:p>
          <a:p>
            <a:pPr>
              <a:defRPr sz="2000"/>
            </a:pPr>
            <a:r>
              <a:t>Boolean props: &lt;Button disabled /&gt; equals disabled={true}.</a:t>
            </a:r>
          </a:p>
          <a:p>
            <a:pPr>
              <a:defRPr sz="2000"/>
            </a:pPr>
            <a:r>
              <a:t>Explicit false: &lt;Button disabled={false} /&gt; — omit prop when default is false.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Gotchas — JSX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Adjacent siblings need a parent or &lt;&gt;fragment&lt;/&gt; / &lt;</a:t>
            </a:r>
            <a:r>
              <a:rPr dirty="0" err="1"/>
              <a:t>React.Fragment</a:t>
            </a:r>
            <a:r>
              <a:rPr dirty="0"/>
              <a:t>&gt;.</a:t>
            </a:r>
          </a:p>
          <a:p>
            <a:pPr>
              <a:defRPr sz="2000"/>
            </a:pPr>
            <a:r>
              <a:rPr dirty="0"/>
              <a:t>Comments in JSX: {/* comment */}</a:t>
            </a:r>
          </a:p>
          <a:p>
            <a:pPr>
              <a:defRPr sz="2000"/>
            </a:pPr>
            <a:r>
              <a:rPr dirty="0"/>
              <a:t>style takes an object: style={{ </a:t>
            </a:r>
            <a:r>
              <a:rPr dirty="0" err="1"/>
              <a:t>marginTop</a:t>
            </a:r>
            <a:r>
              <a:rPr dirty="0"/>
              <a:t>: 8 }} (camelCase keys).</a:t>
            </a:r>
          </a:p>
          <a:p>
            <a:pPr>
              <a:defRPr sz="2000"/>
            </a:pPr>
            <a:r>
              <a:rPr dirty="0"/>
              <a:t>Reserved words: </a:t>
            </a:r>
            <a:r>
              <a:rPr dirty="0" err="1"/>
              <a:t>htmlFor</a:t>
            </a:r>
            <a:r>
              <a:rPr dirty="0"/>
              <a:t>, </a:t>
            </a:r>
            <a:r>
              <a:rPr dirty="0" err="1"/>
              <a:t>className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Fragments avoid extra DOM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nsolas"/>
              </a:defRPr>
            </a:pPr>
            <a:r>
              <a:rPr sz="1400" dirty="0">
                <a:latin typeface="Consolas"/>
              </a:rPr>
              <a:t>function Row() {</a:t>
            </a:r>
            <a:br>
              <a:rPr dirty="0"/>
            </a:br>
            <a:r>
              <a:rPr sz="1400" dirty="0">
                <a:latin typeface="Consolas"/>
              </a:rPr>
              <a:t>  return (</a:t>
            </a:r>
            <a:br>
              <a:rPr dirty="0"/>
            </a:br>
            <a:r>
              <a:rPr sz="1400" dirty="0">
                <a:latin typeface="Consolas"/>
              </a:rPr>
              <a:t>    &lt;&gt;</a:t>
            </a:r>
            <a:br>
              <a:rPr dirty="0"/>
            </a:br>
            <a:r>
              <a:rPr sz="1400" dirty="0">
                <a:latin typeface="Consolas"/>
              </a:rPr>
              <a:t>      &lt;span&gt;Name&lt;/span&gt;</a:t>
            </a:r>
            <a:br>
              <a:rPr dirty="0"/>
            </a:br>
            <a:r>
              <a:rPr sz="1400" dirty="0">
                <a:latin typeface="Consolas"/>
              </a:rPr>
              <a:t>      &lt;span&gt;Value&lt;/span&gt;</a:t>
            </a:r>
            <a:br>
              <a:rPr dirty="0"/>
            </a:br>
            <a:r>
              <a:rPr sz="1400" dirty="0">
                <a:latin typeface="Consolas"/>
              </a:rPr>
              <a:t>    &lt;/&gt;</a:t>
            </a:r>
            <a:br>
              <a:rPr dirty="0"/>
            </a:br>
            <a:r>
              <a:rPr sz="1400" dirty="0">
                <a:latin typeface="Consolas"/>
              </a:rPr>
              <a:t>  );</a:t>
            </a:r>
            <a:br>
              <a:rPr dirty="0"/>
            </a:b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Rendering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Use </a:t>
            </a:r>
            <a:r>
              <a:rPr dirty="0" err="1"/>
              <a:t>Array.prototype.map</a:t>
            </a:r>
            <a:r>
              <a:rPr dirty="0"/>
              <a:t> to turn data → JSX.</a:t>
            </a:r>
          </a:p>
          <a:p>
            <a:pPr>
              <a:defRPr sz="2000"/>
            </a:pPr>
            <a:r>
              <a:rPr dirty="0"/>
              <a:t>Each top-level element in the loop needs a stable key prop.</a:t>
            </a:r>
          </a:p>
          <a:p>
            <a:pPr>
              <a:defRPr sz="2000"/>
            </a:pPr>
            <a:r>
              <a:rPr dirty="0"/>
              <a:t>Key helps React match items across renders — use IDs, not array index when possible.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+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nsolas"/>
              </a:defRPr>
            </a:pPr>
            <a:r>
              <a:rPr sz="1400" dirty="0">
                <a:latin typeface="Consolas"/>
              </a:rPr>
              <a:t>function </a:t>
            </a:r>
            <a:r>
              <a:rPr sz="1400" dirty="0" err="1">
                <a:latin typeface="Consolas"/>
              </a:rPr>
              <a:t>ProductList</a:t>
            </a:r>
            <a:r>
              <a:rPr sz="1400" dirty="0">
                <a:latin typeface="Consolas"/>
              </a:rPr>
              <a:t>({ items }) {</a:t>
            </a:r>
            <a:br>
              <a:rPr dirty="0"/>
            </a:br>
            <a:r>
              <a:rPr sz="1400" dirty="0">
                <a:latin typeface="Consolas"/>
              </a:rPr>
              <a:t>  return (</a:t>
            </a:r>
            <a:br>
              <a:rPr dirty="0"/>
            </a:br>
            <a:r>
              <a:rPr sz="1400" dirty="0">
                <a:latin typeface="Consolas"/>
              </a:rPr>
              <a:t>    &lt;ul </a:t>
            </a:r>
            <a:r>
              <a:rPr sz="1400" dirty="0" err="1">
                <a:latin typeface="Consolas"/>
              </a:rPr>
              <a:t>className</a:t>
            </a:r>
            <a:r>
              <a:rPr sz="1400" dirty="0">
                <a:latin typeface="Consolas"/>
              </a:rPr>
              <a:t>="list"&gt;</a:t>
            </a:r>
            <a:br>
              <a:rPr dirty="0"/>
            </a:br>
            <a:r>
              <a:rPr sz="1400" dirty="0">
                <a:latin typeface="Consolas"/>
              </a:rPr>
              <a:t>      {</a:t>
            </a:r>
            <a:r>
              <a:rPr sz="1400" dirty="0" err="1">
                <a:latin typeface="Consolas"/>
              </a:rPr>
              <a:t>items.map</a:t>
            </a:r>
            <a:r>
              <a:rPr sz="1400" dirty="0">
                <a:latin typeface="Consolas"/>
              </a:rPr>
              <a:t>((item) =&gt; (</a:t>
            </a:r>
            <a:br>
              <a:rPr dirty="0"/>
            </a:br>
            <a:r>
              <a:rPr sz="1400" dirty="0">
                <a:latin typeface="Consolas"/>
              </a:rPr>
              <a:t>        &lt;li key={item.id}&gt;{item.name}&lt;/li&gt;</a:t>
            </a:r>
            <a:br>
              <a:rPr dirty="0"/>
            </a:br>
            <a:r>
              <a:rPr sz="1400" dirty="0">
                <a:latin typeface="Consolas"/>
              </a:rPr>
              <a:t>      ))}</a:t>
            </a:r>
            <a:br>
              <a:rPr dirty="0"/>
            </a:br>
            <a:r>
              <a:rPr sz="1400" dirty="0">
                <a:latin typeface="Consolas"/>
              </a:rPr>
              <a:t>    &lt;/ul&gt;</a:t>
            </a:r>
            <a:br>
              <a:rPr dirty="0"/>
            </a:br>
            <a:r>
              <a:rPr sz="1400" dirty="0">
                <a:latin typeface="Consolas"/>
              </a:rPr>
              <a:t>  );</a:t>
            </a:r>
            <a:br>
              <a:rPr dirty="0"/>
            </a:b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Keys — prefer stable IDs over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Good keys: database ids, UUIDs, stable business keys.</a:t>
            </a:r>
          </a:p>
          <a:p>
            <a:pPr>
              <a:defRPr sz="2000"/>
            </a:pPr>
            <a:r>
              <a:rPr dirty="0"/>
              <a:t>Index as key: only OK for static lists that never reorder/filter.</a:t>
            </a:r>
          </a:p>
          <a:p>
            <a:pPr>
              <a:defRPr sz="2000"/>
            </a:pPr>
            <a:r>
              <a:rPr dirty="0"/>
              <a:t>Changing keys forces React to recreate subtree — sometimes intentional.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Part 2 —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You can embed {}, use className, fragments, and map + key.</a:t>
            </a:r>
          </a:p>
          <a:p>
            <a:pPr>
              <a:defRPr sz="2000"/>
            </a:pPr>
            <a:r>
              <a:t>Next: organize JSX into files/components and wire imports.</a:t>
            </a:r>
          </a:p>
          <a:p>
            <a:pPr>
              <a:defRPr sz="2000"/>
            </a:pPr>
            <a:r>
              <a:t>Optional 2-min stretch: add a list from a hard-coded array in App.jsx.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Part 3 — Components &amp; composition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component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function whose name starts with Uppercase (convention).</a:t>
            </a:r>
          </a:p>
          <a:p>
            <a:pPr>
              <a:defRPr sz="2000"/>
            </a:pPr>
            <a:r>
              <a:t>Returns JSX (or null).</a:t>
            </a:r>
          </a:p>
          <a:p>
            <a:pPr>
              <a:defRPr sz="2000"/>
            </a:pPr>
            <a:r>
              <a:t>Defined in its own file or alongside related helpers.</a:t>
            </a:r>
          </a:p>
          <a:p>
            <a:pPr>
              <a:defRPr sz="2000"/>
            </a:pPr>
            <a:r>
              <a:t>Exported default or named — stay consistent per folder.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Naming rule — PascalCase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React treats lowercase tags as built-ins (&lt;div&gt;) vs components (&lt;Card&gt;).</a:t>
            </a:r>
          </a:p>
          <a:p>
            <a:pPr>
              <a:defRPr sz="2000"/>
            </a:pPr>
            <a:r>
              <a:rPr dirty="0"/>
              <a:t>File names often match: </a:t>
            </a:r>
            <a:r>
              <a:rPr dirty="0" err="1"/>
              <a:t>Card.jsx</a:t>
            </a:r>
            <a:r>
              <a:rPr dirty="0"/>
              <a:t> exports Card (team conventions vary).</a:t>
            </a:r>
          </a:p>
          <a:p>
            <a:pPr>
              <a:defRPr sz="2000"/>
            </a:pPr>
            <a:r>
              <a:rPr dirty="0"/>
              <a:t>Hooks start with “use” — not covered deeply today; reserve the prefix.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Diagram — component tree</a:t>
            </a:r>
          </a:p>
        </p:txBody>
      </p:sp>
      <p:pic>
        <p:nvPicPr>
          <p:cNvPr id="3" name="Picture 2" descr="component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5156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Small components composed inside larger ones — data flows through props.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Diagram — Vite project layout</a:t>
            </a:r>
          </a:p>
        </p:txBody>
      </p:sp>
      <p:pic>
        <p:nvPicPr>
          <p:cNvPr id="3" name="Picture 2" descr="vite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51560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src/main.jsx mounts the tree; keep components under src/components as you grow.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Export / import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nsolas"/>
              </a:defRPr>
            </a:pPr>
            <a:r>
              <a:rPr sz="1400" dirty="0">
                <a:latin typeface="Consolas"/>
              </a:rPr>
              <a:t>// </a:t>
            </a:r>
            <a:r>
              <a:rPr sz="1400" dirty="0" err="1">
                <a:latin typeface="Consolas"/>
              </a:rPr>
              <a:t>src</a:t>
            </a:r>
            <a:r>
              <a:rPr sz="1400" dirty="0">
                <a:latin typeface="Consolas"/>
              </a:rPr>
              <a:t>/components/</a:t>
            </a:r>
            <a:r>
              <a:rPr sz="1400" dirty="0" err="1">
                <a:latin typeface="Consolas"/>
              </a:rPr>
              <a:t>Header.jsx</a:t>
            </a:r>
            <a:br>
              <a:rPr dirty="0"/>
            </a:br>
            <a:r>
              <a:rPr sz="1400" dirty="0">
                <a:latin typeface="Consolas"/>
              </a:rPr>
              <a:t>export function Header({ title }) {</a:t>
            </a:r>
            <a:br>
              <a:rPr dirty="0"/>
            </a:br>
            <a:r>
              <a:rPr sz="1400" dirty="0">
                <a:latin typeface="Consolas"/>
              </a:rPr>
              <a:t>  return &lt;header&gt;&lt;h1&gt;{title}&lt;/h1&gt;&lt;/header&gt;;</a:t>
            </a:r>
            <a:br>
              <a:rPr dirty="0"/>
            </a:br>
            <a:r>
              <a:rPr sz="1400" dirty="0">
                <a:latin typeface="Consolas"/>
              </a:rPr>
              <a:t>}</a:t>
            </a:r>
            <a:br>
              <a:rPr dirty="0"/>
            </a:br>
            <a:br>
              <a:rPr dirty="0"/>
            </a:br>
            <a:r>
              <a:rPr sz="1400" dirty="0">
                <a:latin typeface="Consolas"/>
              </a:rPr>
              <a:t>// </a:t>
            </a:r>
            <a:r>
              <a:rPr sz="1400" dirty="0" err="1">
                <a:latin typeface="Consolas"/>
              </a:rPr>
              <a:t>src</a:t>
            </a:r>
            <a:r>
              <a:rPr sz="1400" dirty="0">
                <a:latin typeface="Consolas"/>
              </a:rPr>
              <a:t>/</a:t>
            </a:r>
            <a:r>
              <a:rPr sz="1400" dirty="0" err="1">
                <a:latin typeface="Consolas"/>
              </a:rPr>
              <a:t>App.jsx</a:t>
            </a:r>
            <a:br>
              <a:rPr dirty="0"/>
            </a:br>
            <a:r>
              <a:rPr sz="1400" dirty="0">
                <a:latin typeface="Consolas"/>
              </a:rPr>
              <a:t>import { Header } from "./components/</a:t>
            </a:r>
            <a:r>
              <a:rPr sz="1400" dirty="0" err="1">
                <a:latin typeface="Consolas"/>
              </a:rPr>
              <a:t>Header.jsx</a:t>
            </a:r>
            <a:r>
              <a:rPr sz="1400" dirty="0">
                <a:latin typeface="Consolas"/>
              </a:rPr>
              <a:t>";</a:t>
            </a:r>
            <a:br>
              <a:rPr dirty="0"/>
            </a:br>
            <a:br>
              <a:rPr dirty="0"/>
            </a:br>
            <a:r>
              <a:rPr sz="1400" dirty="0">
                <a:latin typeface="Consolas"/>
              </a:rPr>
              <a:t>export default function App() {</a:t>
            </a:r>
            <a:br>
              <a:rPr dirty="0"/>
            </a:br>
            <a:r>
              <a:rPr sz="1400" dirty="0">
                <a:latin typeface="Consolas"/>
              </a:rPr>
              <a:t>  return (</a:t>
            </a:r>
            <a:br>
              <a:rPr dirty="0"/>
            </a:br>
            <a:r>
              <a:rPr sz="1400" dirty="0">
                <a:latin typeface="Consolas"/>
              </a:rPr>
              <a:t>    &lt;div </a:t>
            </a:r>
            <a:r>
              <a:rPr sz="1400" dirty="0" err="1">
                <a:latin typeface="Consolas"/>
              </a:rPr>
              <a:t>className</a:t>
            </a:r>
            <a:r>
              <a:rPr sz="1400" dirty="0">
                <a:latin typeface="Consolas"/>
              </a:rPr>
              <a:t>="app"&gt;</a:t>
            </a:r>
            <a:br>
              <a:rPr dirty="0"/>
            </a:br>
            <a:r>
              <a:rPr sz="1400" dirty="0">
                <a:latin typeface="Consolas"/>
              </a:rPr>
              <a:t>      &lt;Header title="Shop" /&gt;</a:t>
            </a:r>
            <a:br>
              <a:rPr dirty="0"/>
            </a:br>
            <a:r>
              <a:rPr sz="1400" dirty="0">
                <a:latin typeface="Consolas"/>
              </a:rPr>
              <a:t>    &lt;/div&gt;</a:t>
            </a:r>
            <a:br>
              <a:rPr dirty="0"/>
            </a:br>
            <a:r>
              <a:rPr sz="1400" dirty="0">
                <a:latin typeface="Consolas"/>
              </a:rPr>
              <a:t>  );</a:t>
            </a:r>
            <a:br>
              <a:rPr dirty="0"/>
            </a:b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Default vs named exports (pick one style)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Named: export function Header … → import { Header } from "./Header.jsx"</a:t>
            </a:r>
          </a:p>
          <a:p>
            <a:pPr>
              <a:defRPr sz="2000"/>
            </a:pPr>
            <a:r>
              <a:t>Default: export default function App … → import App from "./App.jsx"</a:t>
            </a:r>
          </a:p>
          <a:p>
            <a:pPr>
              <a:defRPr sz="2000"/>
            </a:pPr>
            <a:r>
              <a:t>Mixing is fine — consistency inside a folder reduces confusion.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Imports — paths that bite beginners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Relative paths start with ./ or ../ — extension optional but explicit helps.</a:t>
            </a:r>
          </a:p>
          <a:p>
            <a:pPr>
              <a:defRPr sz="2000"/>
            </a:pPr>
            <a:r>
              <a:t>Case sensitivity: Linux CI may fail if import path casing mismatches filename.</a:t>
            </a:r>
          </a:p>
          <a:p>
            <a:pPr>
              <a:defRPr sz="2000"/>
            </a:pPr>
            <a:r>
              <a:t>Barrel files (index.js re-exports) exist — optional pattern later.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Layout shells: App wraps pages/sections.</a:t>
            </a:r>
          </a:p>
          <a:p>
            <a:pPr>
              <a:defRPr sz="2000"/>
            </a:pPr>
            <a:r>
              <a:t>Presentational pieces: Card, Badge, Avatar.</a:t>
            </a:r>
          </a:p>
          <a:p>
            <a:pPr>
              <a:defRPr sz="2000"/>
            </a:pPr>
            <a:r>
              <a:t>Avoid copying JSX — extract when duplicate grows or needs props.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 —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Can you draw arrows: App → Header → Nav on paper?</a:t>
            </a:r>
          </a:p>
          <a:p>
            <a:pPr>
              <a:defRPr sz="2000"/>
            </a:pPr>
            <a:r>
              <a:rPr dirty="0"/>
              <a:t>Does each component live in its own file yet? Refactor if </a:t>
            </a:r>
            <a:r>
              <a:rPr dirty="0" err="1"/>
              <a:t>App.jsx</a:t>
            </a:r>
            <a:r>
              <a:rPr dirty="0"/>
              <a:t> grows.</a:t>
            </a:r>
          </a:p>
          <a:p>
            <a:pPr>
              <a:defRPr sz="2000"/>
            </a:pPr>
            <a:r>
              <a:rPr dirty="0"/>
              <a:t>Prepare for props: decide what text/data parents must supply.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Part 4 — Props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Diagram — props flow downward</a:t>
            </a:r>
          </a:p>
        </p:txBody>
      </p:sp>
      <p:pic>
        <p:nvPicPr>
          <p:cNvPr id="3" name="Picture 2" descr="prop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515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Props are read-only inputs for a component — immutable snapshot each render.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Props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Props arrive as the first function argument object.</a:t>
            </a:r>
          </a:p>
          <a:p>
            <a:pPr>
              <a:defRPr sz="2000"/>
            </a:pPr>
            <a:r>
              <a:t>Destructuring: function Card({ title, price }) { … }</a:t>
            </a:r>
          </a:p>
          <a:p>
            <a:pPr>
              <a:defRPr sz="2000"/>
            </a:pPr>
            <a:r>
              <a:t>children prop: content between opening/closing tags.</a:t>
            </a:r>
          </a:p>
          <a:p>
            <a:pPr>
              <a:defRPr sz="2000"/>
            </a:pPr>
            <a:r>
              <a:t>Spread carefully: &lt;Card {...data} /&gt; when shapes match.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Default parameters for props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nsolas"/>
              </a:defRPr>
            </a:pPr>
            <a:r>
              <a:rPr sz="1400">
                <a:latin typeface="Consolas"/>
              </a:rPr>
              <a:t>function Badge({ label = "NEW", tone = "muted" }) {</a:t>
            </a:r>
            <a:br/>
            <a:r>
              <a:rPr sz="1400">
                <a:latin typeface="Consolas"/>
              </a:rPr>
              <a:t>  return &lt;span className={`badge badge--${tone}`}&gt;{label}&lt;/span&gt;;</a:t>
            </a:r>
            <a:br/>
            <a:r>
              <a:rPr sz="1400">
                <a:latin typeface="Consolas"/>
              </a:rPr>
              <a:t>}</a:t>
            </a:r>
            <a:br/>
            <a:br/>
            <a:r>
              <a:rPr sz="1400">
                <a:latin typeface="Consolas"/>
              </a:rPr>
              <a:t>// Usage: &lt;Badge /&gt; uses defaults</a:t>
            </a:r>
            <a:br/>
            <a:r>
              <a:rPr sz="1400">
                <a:latin typeface="Consolas"/>
              </a:rPr>
              <a:t>&lt;Badge label="SALE" tone="warn" /&gt;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Spreading props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Helpful when an object already matches prop names: &lt;Row {...item} /&gt;.</a:t>
            </a:r>
          </a:p>
          <a:p>
            <a:pPr>
              <a:defRPr sz="2000"/>
            </a:pPr>
            <a:r>
              <a:t>Risk: accidentally passing extra keys — TypeScript catches this later.</a:t>
            </a:r>
          </a:p>
          <a:p>
            <a:pPr>
              <a:defRPr sz="2000"/>
            </a:pPr>
            <a:r>
              <a:t>Order matters if you override: &lt;Card {...defaults} title="Override" /&gt;.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children slot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nsolas"/>
              </a:defRPr>
            </a:pPr>
            <a:r>
              <a:rPr sz="1400">
                <a:latin typeface="Consolas"/>
              </a:rPr>
              <a:t>function Panel({ title, children }) {</a:t>
            </a:r>
            <a:br/>
            <a:r>
              <a:rPr sz="1400">
                <a:latin typeface="Consolas"/>
              </a:rPr>
              <a:t>  return (</a:t>
            </a:r>
            <a:br/>
            <a:r>
              <a:rPr sz="1400">
                <a:latin typeface="Consolas"/>
              </a:rPr>
              <a:t>    &lt;section className="panel"&gt;</a:t>
            </a:r>
            <a:br/>
            <a:r>
              <a:rPr sz="1400">
                <a:latin typeface="Consolas"/>
              </a:rPr>
              <a:t>      &lt;h2&gt;{title}&lt;/h2&gt;</a:t>
            </a:r>
            <a:br/>
            <a:r>
              <a:rPr sz="1400">
                <a:latin typeface="Consolas"/>
              </a:rPr>
              <a:t>      &lt;div className="panel-body"&gt;{children}&lt;/div&gt;</a:t>
            </a:r>
            <a:br/>
            <a:r>
              <a:rPr sz="1400">
                <a:latin typeface="Consolas"/>
              </a:rPr>
              <a:t>    &lt;/section&gt;</a:t>
            </a:r>
            <a:br/>
            <a:r>
              <a:rPr sz="1400">
                <a:latin typeface="Consolas"/>
              </a:rPr>
              <a:t>  );</a:t>
            </a:r>
            <a:br/>
            <a:r>
              <a:rPr sz="1400">
                <a:latin typeface="Consolas"/>
              </a:rPr>
              <a:t>}</a:t>
            </a:r>
            <a:br/>
            <a:br/>
            <a:r>
              <a:rPr sz="1400">
                <a:latin typeface="Consolas"/>
              </a:rPr>
              <a:t>// Usage</a:t>
            </a:r>
            <a:br/>
            <a:r>
              <a:rPr sz="1400">
                <a:latin typeface="Consolas"/>
              </a:rPr>
              <a:t>&lt;Panel title="Details"&gt;</a:t>
            </a:r>
            <a:br/>
            <a:r>
              <a:rPr sz="1400">
                <a:latin typeface="Consolas"/>
              </a:rPr>
              <a:t>  &lt;p&gt;Optional nested JSX goes here.&lt;/p&gt;</a:t>
            </a:r>
            <a:br/>
            <a:r>
              <a:rPr sz="1400">
                <a:latin typeface="Consolas"/>
              </a:rPr>
              <a:t>&lt;/Panel&gt;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Gotchas — props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Props down — avoid mutating props inside children.</a:t>
            </a:r>
          </a:p>
          <a:p>
            <a:pPr>
              <a:defRPr sz="2000"/>
            </a:pPr>
            <a:r>
              <a:t>Rename reserved DOM props when forwarding… rarely needed today.</a:t>
            </a:r>
          </a:p>
          <a:p>
            <a:pPr>
              <a:defRPr sz="2000"/>
            </a:pPr>
            <a:r>
              <a:t>Boolean shorthand: &lt;Toggle open /&gt; === open={true}</a:t>
            </a:r>
          </a:p>
          <a:p>
            <a:pPr>
              <a:defRPr sz="2000"/>
            </a:pPr>
            <a:r>
              <a:t>Default values via default parameters or fallback rendering.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JSX quickly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Console + React error overlay: often pinpoints exact line.</a:t>
            </a:r>
          </a:p>
          <a:p>
            <a:pPr>
              <a:defRPr sz="2000"/>
            </a:pPr>
            <a:r>
              <a:t>Disable half the JSX return (comment blocks) to isolate bad expressions.</a:t>
            </a:r>
          </a:p>
          <a:p>
            <a:pPr>
              <a:defRPr sz="2000"/>
            </a:pPr>
            <a:r>
              <a:t>React DevTools Components tab: inspect props actually received.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Part 5 — Patterns &amp; wrap-up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When to split a component?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Repeated markup with small variations → props.</a:t>
            </a:r>
          </a:p>
          <a:p>
            <a:pPr>
              <a:defRPr sz="2000"/>
            </a:pPr>
            <a:r>
              <a:rPr dirty="0"/>
              <a:t>File exceeds ~80–120 lines of JSX → extract sections.</a:t>
            </a:r>
          </a:p>
          <a:p>
            <a:pPr>
              <a:defRPr sz="2000"/>
            </a:pPr>
            <a:r>
              <a:rPr dirty="0"/>
              <a:t>Distinct responsibilities (form vs list vs header).</a:t>
            </a:r>
          </a:p>
          <a:p>
            <a:pPr>
              <a:defRPr sz="2000"/>
            </a:pPr>
            <a:r>
              <a:rPr dirty="0"/>
              <a:t>Prefer many small components over one mega-return.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preview — interactive UI later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Today focused on static rendering + props.</a:t>
            </a:r>
          </a:p>
          <a:p>
            <a:pPr>
              <a:defRPr sz="2000"/>
            </a:pPr>
            <a:r>
              <a:rPr dirty="0"/>
              <a:t>State &amp; events get dedicated sessions (</a:t>
            </a:r>
            <a:r>
              <a:rPr dirty="0" err="1"/>
              <a:t>useState</a:t>
            </a:r>
            <a:r>
              <a:rPr dirty="0"/>
              <a:t>, lifting state).</a:t>
            </a:r>
          </a:p>
          <a:p>
            <a:pPr>
              <a:defRPr sz="2000"/>
            </a:pPr>
            <a:r>
              <a:rPr dirty="0"/>
              <a:t>Hooks rules apply only when you introduce stateful hooks.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JSX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Expressions in {}; fragments for siblings; className not class.</a:t>
            </a:r>
          </a:p>
          <a:p>
            <a:pPr>
              <a:defRPr sz="2000"/>
            </a:pPr>
            <a:r>
              <a:t>style={{ }} objects; comments {/* */}; lists via map + stable keys.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Components &amp; props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PascalCase components; compose trees; keep files focused.</a:t>
            </a:r>
          </a:p>
          <a:p>
            <a:pPr>
              <a:defRPr sz="2000"/>
            </a:pPr>
            <a:r>
              <a:t>Props flow down; destructuring + defaults simplify signatures.</a:t>
            </a:r>
          </a:p>
          <a:p>
            <a:pPr>
              <a:defRPr sz="2000"/>
            </a:pPr>
            <a:r>
              <a:t>children composes slots without extra prop drilling for simple layouts.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Homework suggestion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Finish Lab Day 9 exercises + stretch tasks.</a:t>
            </a:r>
          </a:p>
          <a:p>
            <a:pPr>
              <a:defRPr sz="2000"/>
            </a:pPr>
            <a:r>
              <a:t>Sketch on paper a component tree for a profile page (Avatar, Bio, Stats).</a:t>
            </a:r>
          </a:p>
          <a:p>
            <a:pPr>
              <a:defRPr sz="2000"/>
            </a:pPr>
            <a:r>
              <a:t>Skim React docs: Describing the UI — Components (overview).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Inclusive UI basics (carry forward)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Images: always provide meaningful alt text — JSX still uses plain alt="…".</a:t>
            </a:r>
          </a:p>
          <a:p>
            <a:pPr>
              <a:defRPr sz="2000"/>
            </a:pPr>
            <a:r>
              <a:t>Associate labels with controls via htmlFor / id pairs for forms (later session deep dive).</a:t>
            </a:r>
          </a:p>
          <a:p>
            <a:pPr>
              <a:defRPr sz="2000"/>
            </a:pPr>
            <a:r>
              <a:t>Semantic tags (&lt;main&gt;, &lt;nav&gt;) improve structure — combine with CSS classes.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hygiene — ESLint &amp;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Vite templates often ship ESLint rules for React — enable key and hooks rules early.</a:t>
            </a:r>
          </a:p>
          <a:p>
            <a:pPr>
              <a:defRPr sz="2000"/>
            </a:pPr>
            <a:r>
              <a:t>Prettier (or editor format-on-save) keeps JSX readable in group projects.</a:t>
            </a:r>
          </a:p>
          <a:p>
            <a:pPr>
              <a:defRPr sz="2000"/>
            </a:pPr>
            <a:r>
              <a:t>Fix warnings before they accumulate — especially hooks deps in future labs.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Pairs — 2-minute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Partner A describes a checkout row (title, price, remove button).</a:t>
            </a:r>
          </a:p>
          <a:p>
            <a:pPr>
              <a:defRPr sz="2000"/>
            </a:pPr>
            <a:r>
              <a:t>Partner B names 2–3 components + props needed — no coding yet.</a:t>
            </a:r>
          </a:p>
          <a:p>
            <a:pPr>
              <a:defRPr sz="2000"/>
            </a:pPr>
            <a:r>
              <a:t>Swap roles with a different UI snippet.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ties to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You will scaffold </a:t>
            </a:r>
            <a:r>
              <a:rPr dirty="0" err="1"/>
              <a:t>Vite</a:t>
            </a:r>
            <a:r>
              <a:rPr dirty="0"/>
              <a:t>, extract Welcome/</a:t>
            </a:r>
            <a:r>
              <a:rPr dirty="0" err="1"/>
              <a:t>ProductCard</a:t>
            </a:r>
            <a:r>
              <a:rPr dirty="0"/>
              <a:t>, compose Header + grid.</a:t>
            </a:r>
          </a:p>
          <a:p>
            <a:pPr>
              <a:defRPr sz="2000"/>
            </a:pPr>
            <a:r>
              <a:rPr dirty="0"/>
              <a:t>Expect refactor step: thin </a:t>
            </a:r>
            <a:r>
              <a:rPr dirty="0" err="1"/>
              <a:t>App.jsx</a:t>
            </a:r>
            <a:r>
              <a:rPr dirty="0"/>
              <a:t> pulling data + layout only.</a:t>
            </a:r>
          </a:p>
          <a:p>
            <a:pPr>
              <a:defRPr sz="2000"/>
            </a:pPr>
            <a:r>
              <a:rPr dirty="0"/>
              <a:t>Budget ~12 minutes for setup — ask early if </a:t>
            </a:r>
            <a:r>
              <a:rPr dirty="0" err="1"/>
              <a:t>npm</a:t>
            </a:r>
            <a:r>
              <a:rPr dirty="0"/>
              <a:t> errors appear.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class 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Events in React (onClick, forms, controlled inputs intro).</a:t>
            </a:r>
          </a:p>
          <a:p>
            <a:pPr>
              <a:defRPr sz="2000"/>
            </a:pPr>
            <a:r>
              <a:t>Introduce useState for local UI state; derive JSX from state.</a:t>
            </a:r>
          </a:p>
          <a:p>
            <a:pPr>
              <a:defRPr sz="2000"/>
            </a:pPr>
            <a:r>
              <a:t>Optional reading: React Beta docs — state as snapshot.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https://react.dev/learn/describing-the-ui</a:t>
            </a:r>
          </a:p>
          <a:p>
            <a:pPr>
              <a:defRPr sz="2000"/>
            </a:pPr>
            <a:r>
              <a:t>https://react.dev/learn/passing-props-to-a-component</a:t>
            </a:r>
          </a:p>
          <a:p>
            <a:pPr>
              <a:defRPr sz="2000"/>
            </a:pPr>
            <a:r>
              <a:t>https://vitejs.dev/guide/</a:t>
            </a:r>
          </a:p>
          <a:p>
            <a:pPr>
              <a:defRPr sz="2000"/>
            </a:pPr>
            <a:r>
              <a:t>ESLint react/jsx-key rule — catches missing keys early.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2398</Words>
  <Application>Microsoft Office PowerPoint</Application>
  <PresentationFormat>Widescreen</PresentationFormat>
  <Paragraphs>200</Paragraphs>
  <Slides>53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Calibri</vt:lpstr>
      <vt:lpstr>Consolas</vt:lpstr>
      <vt:lpstr>Office Theme</vt:lpstr>
      <vt:lpstr>Day 9 — JSX and React Components</vt:lpstr>
      <vt:lpstr>Learning outcomes</vt:lpstr>
      <vt:lpstr>Agenda (~90 minutes)</vt:lpstr>
      <vt:lpstr>Part 1 — React &amp; toolchain</vt:lpstr>
      <vt:lpstr>Why component-driven UI?</vt:lpstr>
      <vt:lpstr>Modern React (what we use in this course)</vt:lpstr>
      <vt:lpstr>Checkpoint — dev workflow</vt:lpstr>
      <vt:lpstr>What Vite does for us (high level)</vt:lpstr>
      <vt:lpstr>PowerPoint Presentation</vt:lpstr>
      <vt:lpstr>Part 2 — JSX fundamentals</vt:lpstr>
      <vt:lpstr>JSX is a syntax extension — not a string</vt:lpstr>
      <vt:lpstr>Attributes in JSX — camelCase everywhere</vt:lpstr>
      <vt:lpstr>Conditional UI in JSX</vt:lpstr>
      <vt:lpstr>Patterns — &amp;&amp; and ternary</vt:lpstr>
      <vt:lpstr>Expressions inside JSX</vt:lpstr>
      <vt:lpstr>PowerPoint Presentation</vt:lpstr>
      <vt:lpstr>Self-closing tags &amp; booleans</vt:lpstr>
      <vt:lpstr>Gotchas — JSX</vt:lpstr>
      <vt:lpstr>Fragments avoid extra DOM nodes</vt:lpstr>
      <vt:lpstr>Rendering lists</vt:lpstr>
      <vt:lpstr>List + key</vt:lpstr>
      <vt:lpstr>Keys — prefer stable IDs over index</vt:lpstr>
      <vt:lpstr>End of Part 2 — checkpoint</vt:lpstr>
      <vt:lpstr>Part 3 — Components &amp; composition</vt:lpstr>
      <vt:lpstr>Function component shape</vt:lpstr>
      <vt:lpstr>Naming rule — PascalCase components</vt:lpstr>
      <vt:lpstr>PowerPoint Presentation</vt:lpstr>
      <vt:lpstr>PowerPoint Presentation</vt:lpstr>
      <vt:lpstr>Export / import (example)</vt:lpstr>
      <vt:lpstr>Default vs named exports (pick one style)</vt:lpstr>
      <vt:lpstr>Imports — paths that bite beginners</vt:lpstr>
      <vt:lpstr>Composition patterns</vt:lpstr>
      <vt:lpstr>Checkpoint — composition</vt:lpstr>
      <vt:lpstr>Part 4 — Props</vt:lpstr>
      <vt:lpstr>PowerPoint Presentation</vt:lpstr>
      <vt:lpstr>Props mechanics</vt:lpstr>
      <vt:lpstr>Default parameters for props</vt:lpstr>
      <vt:lpstr>Spreading props</vt:lpstr>
      <vt:lpstr>children slot</vt:lpstr>
      <vt:lpstr>Gotchas — props</vt:lpstr>
      <vt:lpstr>Debugging JSX quickly</vt:lpstr>
      <vt:lpstr>Part 5 — Patterns &amp; wrap-up</vt:lpstr>
      <vt:lpstr>When to split a component?</vt:lpstr>
      <vt:lpstr>Minimal preview — interactive UI later</vt:lpstr>
      <vt:lpstr>Summary — JSX</vt:lpstr>
      <vt:lpstr>Summary — Components &amp; props</vt:lpstr>
      <vt:lpstr>Homework suggestion</vt:lpstr>
      <vt:lpstr>Inclusive UI basics (carry forward)</vt:lpstr>
      <vt:lpstr>Team hygiene — ESLint &amp; formatting</vt:lpstr>
      <vt:lpstr>Pairs — 2-minute prompt</vt:lpstr>
      <vt:lpstr>Lab preview — ties to today</vt:lpstr>
      <vt:lpstr>Next class bridge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9 — JSX and React Components</dc:title>
  <dc:subject/>
  <dc:creator/>
  <cp:keywords/>
  <dc:description>generated using python-pptx</dc:description>
  <cp:lastModifiedBy>Abid Ali</cp:lastModifiedBy>
  <cp:revision>3</cp:revision>
  <dcterms:created xsi:type="dcterms:W3CDTF">2013-01-27T09:14:16Z</dcterms:created>
  <dcterms:modified xsi:type="dcterms:W3CDTF">2026-04-29T10:37:49Z</dcterms:modified>
  <cp:category/>
</cp:coreProperties>
</file>