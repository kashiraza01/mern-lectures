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13716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CE3EE"/>
                </a:solidFill>
                <a:latin typeface="Calibri"/>
              </a:rPr>
              <a:t>MERN Stack Bootcamp  ·  Week 2  ·  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Functional 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F2A65A"/>
                </a:solidFill>
                <a:latin typeface="Calibri"/>
              </a:rPr>
              <a:t>Mastering Higher-Order Array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DCE3EE"/>
                </a:solidFill>
                <a:latin typeface="Calibri"/>
              </a:rPr>
              <a:t>map · filter · some · every · find · reduce · sort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7B8794"/>
                </a:solidFill>
                <a:latin typeface="Calibri"/>
              </a:rPr>
              <a:t>Instructor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548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7B8794"/>
                </a:solidFill>
                <a:latin typeface="Calibri"/>
              </a:rPr>
              <a:t>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0749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1F3A5F"/>
                </a:solidFill>
                <a:latin typeface="Calibri"/>
              </a:rPr>
              <a:t>90 minutes  (lecture)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7B8794"/>
                </a:solidFill>
                <a:latin typeface="Calibri"/>
              </a:rPr>
              <a:t>Prereq: JS engine · event loop · callbacks · Promises · async/await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Agenda (90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1. Recap — functions as first-class citizens         (10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2. Imperative vs declarative                                      (10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3. </a:t>
            </a:r>
            <a:r>
              <a:rPr sz="1600" dirty="0" err="1">
                <a:solidFill>
                  <a:srgbClr val="222222"/>
                </a:solidFill>
                <a:latin typeface="Calibri"/>
              </a:rPr>
              <a:t>forEach</a:t>
            </a:r>
            <a:r>
              <a:rPr sz="1600" dirty="0">
                <a:solidFill>
                  <a:srgbClr val="222222"/>
                </a:solidFill>
                <a:latin typeface="Calibri"/>
              </a:rPr>
              <a:t> — iteration without a result                    (5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4. map — transform each element                           (15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5. filter — keep what passes a test                         (15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6. some &amp; every — quick </a:t>
            </a:r>
            <a:r>
              <a:rPr sz="1600" dirty="0" err="1">
                <a:solidFill>
                  <a:srgbClr val="222222"/>
                </a:solidFill>
                <a:latin typeface="Calibri"/>
              </a:rPr>
              <a:t>boolean</a:t>
            </a:r>
            <a:r>
              <a:rPr sz="1600" dirty="0">
                <a:solidFill>
                  <a:srgbClr val="222222"/>
                </a:solidFill>
                <a:latin typeface="Calibri"/>
              </a:rPr>
              <a:t> answers          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4864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7. find &amp; findIndex — the first match                       (5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8. reduce — the Swiss Army knife                            (15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9. sort — ordering (carefully!)                                   (10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10. Chaining — real data pipelines                          (10 min)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11. Performance, pitfalls &amp; cheat-sheet                  (5 min)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155680" cy="640080"/>
          </a:xfrm>
          <a:prstGeom prst="roundRect">
            <a:avLst/>
          </a:prstGeom>
          <a:solidFill>
            <a:srgbClr val="FFF6D5"/>
          </a:solidFill>
          <a:ln>
            <a:solidFill>
              <a:srgbClr val="E6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687568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C4A00"/>
                </a:solidFill>
                <a:latin typeface="Calibri"/>
              </a:rPr>
              <a:t>Today we turn everything we learned about callbacks &amp; async into clean, declarative data pipelines you will use every day in the MERN stack.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Where we are in the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Week 1 — what powers JS: the engine &amp; the event loop.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Week 2 Day 3–4 — taming async: callbacks → Promises → async/await.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Today — zoom BACK UP to everyday tools: higher-order array methods.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These methods are the bread and butter of every React component, every Express handler, every Mongo query transformation.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303520"/>
            <a:ext cx="11155680" cy="914400"/>
          </a:xfrm>
          <a:prstGeom prst="roundRect">
            <a:avLst/>
          </a:prstGeom>
          <a:solidFill>
            <a:srgbClr val="FFF6D5"/>
          </a:solidFill>
          <a:ln>
            <a:solidFill>
              <a:srgbClr val="E6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413248"/>
            <a:ext cx="10789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C4A00"/>
                </a:solidFill>
                <a:latin typeface="Calibri"/>
              </a:rPr>
              <a:t>Yesterday: async/await removed callback-hell INDENTATION. Today: array methods remove for-loop NOISE.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By the end of this lecture, you will be able to…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1556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dirty="0">
                <a:solidFill>
                  <a:srgbClr val="222222"/>
                </a:solidFill>
                <a:latin typeface="Calibri"/>
              </a:rPr>
              <a:t>•  Explain why JS functions are FIRST-CLASS and what a higher-order function is.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dirty="0">
                <a:solidFill>
                  <a:srgbClr val="222222"/>
                </a:solidFill>
                <a:latin typeface="Calibri"/>
              </a:rPr>
              <a:t>•  Choose between map, filter, find, some, every, reduce and sort for any data-transformation task.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dirty="0">
                <a:solidFill>
                  <a:srgbClr val="222222"/>
                </a:solidFill>
                <a:latin typeface="Calibri"/>
              </a:rPr>
              <a:t>•  Chain these methods into clean, declarative data pipelines.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dirty="0">
                <a:solidFill>
                  <a:srgbClr val="222222"/>
                </a:solidFill>
                <a:latin typeface="Calibri"/>
              </a:rPr>
              <a:t>•  </a:t>
            </a:r>
            <a:r>
              <a:rPr sz="2000" dirty="0" err="1">
                <a:solidFill>
                  <a:srgbClr val="222222"/>
                </a:solidFill>
                <a:latin typeface="Calibri"/>
              </a:rPr>
              <a:t>Recognise</a:t>
            </a:r>
            <a:r>
              <a:rPr sz="2000" dirty="0">
                <a:solidFill>
                  <a:srgbClr val="222222"/>
                </a:solidFill>
                <a:latin typeface="Calibri"/>
              </a:rPr>
              <a:t> the classic bugs: missing return in map, mutating sort, forgotten initial value in reduce, </a:t>
            </a:r>
            <a:r>
              <a:rPr sz="2000" dirty="0" err="1">
                <a:solidFill>
                  <a:srgbClr val="222222"/>
                </a:solidFill>
                <a:latin typeface="Calibri"/>
              </a:rPr>
              <a:t>forEach</a:t>
            </a:r>
            <a:r>
              <a:rPr sz="2000" dirty="0">
                <a:solidFill>
                  <a:srgbClr val="222222"/>
                </a:solidFill>
                <a:latin typeface="Calibri"/>
              </a:rPr>
              <a:t> + async.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dirty="0">
                <a:solidFill>
                  <a:srgbClr val="222222"/>
                </a:solidFill>
                <a:latin typeface="Calibri"/>
              </a:rPr>
              <a:t>•  Decide when a plain old for loop is still the right tool.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1. Functions are First-Class Citizens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In JavaScript, a function is just another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333333"/>
                </a:solidFill>
                <a:latin typeface="Calibri"/>
              </a:rPr>
              <a:t>Anywhere a number or a string can go, a function can go.</a:t>
            </a:r>
          </a:p>
        </p:txBody>
      </p:sp>
      <p:pic>
        <p:nvPicPr>
          <p:cNvPr id="5" name="Picture 4" descr="first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780" y="2651760"/>
            <a:ext cx="7468133" cy="3291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1. Higher-Order Function (HOF) — the enabler of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Calibri"/>
              </a:rPr>
              <a:t>A HOF either TAKES a function as an argument, or RETURNS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11155680" cy="3840480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121408"/>
            <a:ext cx="10881360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// 1. Stored in a variable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const greet = (name) =&gt; `Hello, ${name}!`;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// 2. Passed as an argument  &lt;-- this is the HOF pattern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function twice(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fn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, x) { return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fn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fn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(x)); }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twice((n) =&gt; n + 1, 5);       // 7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// 3. Returned from a function (a function factory)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const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multiplyBy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 = (n) =&gt; (x) =&gt; x * n;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const double =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multiplyBy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(2);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double(21);                   // 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943600"/>
            <a:ext cx="11155680" cy="411480"/>
          </a:xfrm>
          <a:prstGeom prst="roundRect">
            <a:avLst/>
          </a:prstGeom>
          <a:solidFill>
            <a:srgbClr val="FFF6D5"/>
          </a:solidFill>
          <a:ln>
            <a:solidFill>
              <a:srgbClr val="E6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053328"/>
            <a:ext cx="107899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C4A00"/>
                </a:solidFill>
                <a:latin typeface="Calibri"/>
              </a:rPr>
              <a:t>Every method today (map / filter / reduce / …) is a higher-order function.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A5F"/>
                </a:solidFill>
                <a:latin typeface="Calibri"/>
              </a:rPr>
              <a:t>2. Imperative vs Declarative — same result, very different code</a:t>
            </a:r>
          </a:p>
        </p:txBody>
      </p:sp>
      <p:pic>
        <p:nvPicPr>
          <p:cNvPr id="3" name="Picture 2" descr="imp_vs_d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328" y="1280160"/>
            <a:ext cx="8069198" cy="37490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212080"/>
            <a:ext cx="111556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 Declarative = less noise — eyes read intent, not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i</a:t>
            </a:r>
            <a:r>
              <a:rPr sz="1500" dirty="0">
                <a:solidFill>
                  <a:srgbClr val="222222"/>
                </a:solidFill>
                <a:latin typeface="Calibri"/>
              </a:rPr>
              <a:t>++ / length.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 Pipelines compose: add another .filter / .map / .sort without breakage.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 Inputs stay immutable — far fewer bugs elsewhere in the program.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A5F"/>
                </a:solidFill>
                <a:latin typeface="Calibri"/>
              </a:rPr>
              <a:t>3.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forEach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— iteration without a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Runs a callback once per element.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Returns undefined — its only job is a SIDE EFFECT.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Does NOT support break / continue / return-to-break.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Does NOT wait for async callbacks.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669280" cy="3200400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81328"/>
            <a:ext cx="5394960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const users = ['Ali', 'Sara', 'Umar'];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500" dirty="0" err="1">
                <a:solidFill>
                  <a:srgbClr val="1A1A1A"/>
                </a:solidFill>
                <a:latin typeface="Consolas"/>
              </a:rPr>
              <a:t>users.forEach</a:t>
            </a:r>
            <a:r>
              <a:rPr sz="1500" dirty="0">
                <a:solidFill>
                  <a:srgbClr val="1A1A1A"/>
                </a:solidFill>
                <a:latin typeface="Consolas"/>
              </a:rPr>
              <a:t>((user, index) =&gt; {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  console.log(`${index + 1}. ${user}`);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// 1. Ali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// 2. Sara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// 3. Umar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46320"/>
            <a:ext cx="11155680" cy="1188720"/>
          </a:xfrm>
          <a:prstGeom prst="roundRect">
            <a:avLst/>
          </a:prstGeom>
          <a:solidFill>
            <a:srgbClr val="FDECEC"/>
          </a:solidFill>
          <a:ln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956048"/>
            <a:ext cx="107899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 dirty="0">
                <a:solidFill>
                  <a:srgbClr val="6B1717"/>
                </a:solidFill>
                <a:latin typeface="Calibri"/>
              </a:rPr>
              <a:t>Heads-up — </a:t>
            </a:r>
            <a:r>
              <a:rPr sz="1500" i="1" dirty="0" err="1">
                <a:solidFill>
                  <a:srgbClr val="6B1717"/>
                </a:solidFill>
                <a:latin typeface="Calibri"/>
              </a:rPr>
              <a:t>arr.forEach</a:t>
            </a:r>
            <a:r>
              <a:rPr sz="1500" i="1" dirty="0">
                <a:solidFill>
                  <a:srgbClr val="6B1717"/>
                </a:solidFill>
                <a:latin typeface="Calibri"/>
              </a:rPr>
              <a:t>(async </a:t>
            </a:r>
            <a:r>
              <a:rPr sz="1500" i="1" dirty="0" err="1">
                <a:solidFill>
                  <a:srgbClr val="6B1717"/>
                </a:solidFill>
                <a:latin typeface="Calibri"/>
              </a:rPr>
              <a:t>fn</a:t>
            </a:r>
            <a:r>
              <a:rPr sz="1500" i="1" dirty="0">
                <a:solidFill>
                  <a:srgbClr val="6B1717"/>
                </a:solidFill>
                <a:latin typeface="Calibri"/>
              </a:rPr>
              <a:t>) is a classic bug. The outer loop finishes before any async callback resolves. Use for…of with await instead.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A5F"/>
                </a:solidFill>
                <a:latin typeface="Calibri"/>
              </a:rPr>
              <a:t>4. map — transform each element 1-to-1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dirty="0">
                <a:solidFill>
                  <a:srgbClr val="222222"/>
                </a:solidFill>
                <a:latin typeface="Calibri"/>
              </a:rPr>
              <a:t>•  Builds a NEW array of the SAME length.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dirty="0">
                <a:solidFill>
                  <a:srgbClr val="222222"/>
                </a:solidFill>
                <a:latin typeface="Calibri"/>
              </a:rPr>
              <a:t>•  Callback receives (element, index, array).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dirty="0">
                <a:solidFill>
                  <a:srgbClr val="222222"/>
                </a:solidFill>
                <a:latin typeface="Calibri"/>
              </a:rPr>
              <a:t>•  Pure — original array is untouched.</a:t>
            </a:r>
          </a:p>
        </p:txBody>
      </p:sp>
      <p:pic>
        <p:nvPicPr>
          <p:cNvPr id="4" name="Picture 3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474720"/>
            <a:ext cx="5943600" cy="247407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4. map — everyday examples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25880"/>
            <a:ext cx="11338560" cy="4892040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881360" cy="4626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const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nums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 = [1, 2, 3, 4, 5];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const doubled =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nums.map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(n =&gt; n * 2);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// [2, 4, 6, 8, 10]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// React-style: list of objects -&gt; list of options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const users = [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 { id: 1, name: 'Ali'  },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 { id: 2, name: 'Sara' },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const options =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users.map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(u =&gt; ({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 value: u.id,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 label: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u.name.toUpperCase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(),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}));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A5F"/>
                </a:solidFill>
                <a:latin typeface="Calibri"/>
              </a:rPr>
              <a:t>4. map — the two bugs you WILL hit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D9534F"/>
                </a:solidFill>
                <a:latin typeface="Calibri"/>
              </a:rPr>
              <a:t>Gotcha #1 — forgetting to return from a block body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155680" cy="2011680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108813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// BUG — every element becomes undefined</a:t>
            </a:r>
          </a:p>
          <a:p>
            <a:pPr algn="l">
              <a:lnSpc>
                <a:spcPct val="115000"/>
              </a:lnSpc>
            </a:pPr>
            <a:r>
              <a:rPr sz="1500" dirty="0" err="1">
                <a:solidFill>
                  <a:srgbClr val="1A1A1A"/>
                </a:solidFill>
                <a:latin typeface="Consolas"/>
              </a:rPr>
              <a:t>nums.map</a:t>
            </a:r>
            <a:r>
              <a:rPr sz="1500" dirty="0">
                <a:solidFill>
                  <a:srgbClr val="1A1A1A"/>
                </a:solidFill>
                <a:latin typeface="Consolas"/>
              </a:rPr>
              <a:t>(n =&gt; { n * 2; });       // [undefined, ...]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// FIX — concise body OR explicit return</a:t>
            </a:r>
          </a:p>
          <a:p>
            <a:pPr algn="l">
              <a:lnSpc>
                <a:spcPct val="115000"/>
              </a:lnSpc>
            </a:pPr>
            <a:r>
              <a:rPr sz="1500" dirty="0" err="1">
                <a:solidFill>
                  <a:srgbClr val="1A1A1A"/>
                </a:solidFill>
                <a:latin typeface="Consolas"/>
              </a:rPr>
              <a:t>nums.map</a:t>
            </a:r>
            <a:r>
              <a:rPr sz="1500" dirty="0">
                <a:solidFill>
                  <a:srgbClr val="1A1A1A"/>
                </a:solidFill>
                <a:latin typeface="Consolas"/>
              </a:rPr>
              <a:t>(n =&gt; n * 2);</a:t>
            </a:r>
          </a:p>
          <a:p>
            <a:pPr algn="l">
              <a:lnSpc>
                <a:spcPct val="115000"/>
              </a:lnSpc>
            </a:pPr>
            <a:r>
              <a:rPr sz="1500" dirty="0" err="1">
                <a:solidFill>
                  <a:srgbClr val="1A1A1A"/>
                </a:solidFill>
                <a:latin typeface="Consolas"/>
              </a:rPr>
              <a:t>nums.map</a:t>
            </a:r>
            <a:r>
              <a:rPr sz="1500" dirty="0">
                <a:solidFill>
                  <a:srgbClr val="1A1A1A"/>
                </a:solidFill>
                <a:latin typeface="Consolas"/>
              </a:rPr>
              <a:t>(n =&gt; { return n * 2; 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9534F"/>
                </a:solidFill>
                <a:latin typeface="Calibri"/>
              </a:rPr>
              <a:t>Gotcha #2 — using map for a side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34840"/>
            <a:ext cx="111556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 dirty="0">
                <a:solidFill>
                  <a:srgbClr val="333333"/>
                </a:solidFill>
                <a:latin typeface="Calibri"/>
              </a:rPr>
              <a:t>If you are not using the returned array, you are lying to the reader of your code. Use </a:t>
            </a:r>
            <a:r>
              <a:rPr sz="1700" b="0" i="0" dirty="0" err="1">
                <a:solidFill>
                  <a:srgbClr val="333333"/>
                </a:solidFill>
                <a:latin typeface="Calibri"/>
              </a:rPr>
              <a:t>forEach</a:t>
            </a:r>
            <a:r>
              <a:rPr sz="1700" b="0" i="0" dirty="0">
                <a:solidFill>
                  <a:srgbClr val="333333"/>
                </a:solidFill>
                <a:latin typeface="Calibri"/>
              </a:rPr>
              <a:t> (or a for loop) for pure side effects.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5. filter — keep what passes a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Keeps only items for which the predicate is TRUTHY.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Output length ≤ input length — may be 0.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Empty result is [] — never undefined (matters for chains!).</a:t>
            </a:r>
          </a:p>
        </p:txBody>
      </p:sp>
      <p:pic>
        <p:nvPicPr>
          <p:cNvPr id="4" name="Picture 3" descr="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474720"/>
            <a:ext cx="5943600" cy="26198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5. filter — everyday examples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27909"/>
            <a:ext cx="11338560" cy="4990011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881360" cy="4626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const products = [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{ name: 'Laptop',   price: 1200,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inStock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: true  },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{ name: 'Mouse',    price: 25,  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inStock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: true  },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{ name: 'Monitor',  price: 300, 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inStock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: false },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{ name: 'Keyboard', price: 80,  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inStock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: true  },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const available =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products.filter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(p =&gt;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p.inStock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const cheap     =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products.filter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(p =&gt;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p.price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&lt; 100);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// combine predicates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const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cheapAndAvailable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=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products.filter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p =&gt;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p.inStock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&amp;&amp;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p.price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&lt; 100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// quick trick: drop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falsy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values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[1, null, 'a', 0, undefined, 'b'].filter(Boolean); // [1, 'a', 'b']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6. some &amp; every — quick boolean answers</a:t>
            </a:r>
          </a:p>
        </p:txBody>
      </p:sp>
      <p:pic>
        <p:nvPicPr>
          <p:cNvPr id="3" name="Picture 2" descr="some_e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431" y="1280160"/>
            <a:ext cx="7468831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0"/>
            <a:ext cx="111556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some() — true if AT LEAST ONE element passes (OR).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every() — true only if ALL elements pass (AND).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Both SHORT-CIRCUIT — as fast as a hand-written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6. some &amp; every — code &amp; edge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21649"/>
            <a:ext cx="11338560" cy="4996271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881360" cy="4626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const cart = [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{ name: 'Book',   qty: 2 },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{ name: 'Pen',    qty: 0 },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{ name: 'Eraser', qty: 5 },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dirty="0" err="1">
                <a:solidFill>
                  <a:srgbClr val="1A1A1A"/>
                </a:solidFill>
                <a:latin typeface="Consolas"/>
              </a:rPr>
              <a:t>cart.some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(item =&gt;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item.qty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=== 0);   // true  -&gt; at least one OOS</a:t>
            </a:r>
          </a:p>
          <a:p>
            <a:pPr algn="l">
              <a:lnSpc>
                <a:spcPct val="115000"/>
              </a:lnSpc>
            </a:pPr>
            <a:r>
              <a:rPr sz="1400" dirty="0" err="1">
                <a:solidFill>
                  <a:srgbClr val="1A1A1A"/>
                </a:solidFill>
                <a:latin typeface="Consolas"/>
              </a:rPr>
              <a:t>cart.every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(item =&gt;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item.qty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&gt; 0);    // false -&gt; not all stocked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// form validation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const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allFilled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 = [username, email, password]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.every(f =&gt;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f.trim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() !== '');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// MEMORISE these empty-array results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[].some(x =&gt; x);    // false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[].every(x =&gt; x);   // 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7. find &amp; findIndex — the first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find() — returns the ELEMENT, or undefined.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findIndex() — returns the POSITION, or -1.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Both stop on the first match — faster than filter()[0].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944368"/>
            <a:ext cx="11430000" cy="3227832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944368"/>
            <a:ext cx="10881360" cy="3205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const users = [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{ id: 1, name: 'Ali'  },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{ id: 2, name: 'Sara' },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 { id: 3, name: 'Umar' },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dirty="0" err="1">
                <a:solidFill>
                  <a:srgbClr val="1A1A1A"/>
                </a:solidFill>
                <a:latin typeface="Consolas"/>
              </a:rPr>
              <a:t>users.find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(u =&gt; u.id === 2);       // { id: 2, name: 'Sara' }</a:t>
            </a:r>
          </a:p>
          <a:p>
            <a:pPr algn="l">
              <a:lnSpc>
                <a:spcPct val="115000"/>
              </a:lnSpc>
            </a:pPr>
            <a:r>
              <a:rPr sz="1400" dirty="0" err="1">
                <a:solidFill>
                  <a:srgbClr val="1A1A1A"/>
                </a:solidFill>
                <a:latin typeface="Consolas"/>
              </a:rPr>
              <a:t>users.findIndex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(u =&gt; u.id === 2);  // 1</a:t>
            </a:r>
          </a:p>
          <a:p>
            <a:pPr algn="l">
              <a:lnSpc>
                <a:spcPct val="115000"/>
              </a:lnSpc>
            </a:pPr>
            <a:r>
              <a:rPr sz="1400" dirty="0" err="1">
                <a:solidFill>
                  <a:srgbClr val="1A1A1A"/>
                </a:solidFill>
                <a:latin typeface="Consolas"/>
              </a:rPr>
              <a:t>users.find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(u =&gt; u.id === 99);      // undefined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// pairs nicely with optional chaining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const sara = </a:t>
            </a:r>
            <a:r>
              <a:rPr sz="1400" dirty="0" err="1">
                <a:solidFill>
                  <a:srgbClr val="1A1A1A"/>
                </a:solidFill>
                <a:latin typeface="Consolas"/>
              </a:rPr>
              <a:t>users.find</a:t>
            </a:r>
            <a:r>
              <a:rPr sz="1400" dirty="0">
                <a:solidFill>
                  <a:srgbClr val="1A1A1A"/>
                </a:solidFill>
                <a:latin typeface="Consolas"/>
              </a:rPr>
              <a:t>(u =&gt; u.name === 'Sara');</a:t>
            </a:r>
          </a:p>
          <a:p>
            <a:pPr algn="l">
              <a:lnSpc>
                <a:spcPct val="115000"/>
              </a:lnSpc>
            </a:pPr>
            <a:r>
              <a:rPr sz="1400" dirty="0">
                <a:solidFill>
                  <a:srgbClr val="1A1A1A"/>
                </a:solidFill>
                <a:latin typeface="Consolas"/>
              </a:rPr>
              <a:t>console.log(sara?.id ?? 'not found');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8. reduce — the Swiss Army knife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Collapses an array to ONE value — number, string, object, array.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Reducer signature: (acc, element) =&gt; </a:t>
            </a:r>
            <a:r>
              <a:rPr sz="1600" dirty="0" err="1">
                <a:solidFill>
                  <a:srgbClr val="222222"/>
                </a:solidFill>
                <a:latin typeface="Calibri"/>
              </a:rPr>
              <a:t>newAcc</a:t>
            </a:r>
            <a:r>
              <a:rPr sz="160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Calibri"/>
              </a:rPr>
              <a:t>•  Always pass an INITIAL value. Always.</a:t>
            </a:r>
          </a:p>
        </p:txBody>
      </p:sp>
      <p:pic>
        <p:nvPicPr>
          <p:cNvPr id="4" name="Picture 3" descr="redu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474720"/>
            <a:ext cx="5943600" cy="26198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8. reduce — simple aggregates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155680" cy="4114800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881360" cy="3895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const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nums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 = [1, 2, 3, 4, 5];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// sum</a:t>
            </a:r>
          </a:p>
          <a:p>
            <a:pPr algn="l">
              <a:lnSpc>
                <a:spcPct val="115000"/>
              </a:lnSpc>
            </a:pPr>
            <a:r>
              <a:rPr sz="1600" dirty="0" err="1">
                <a:solidFill>
                  <a:srgbClr val="1A1A1A"/>
                </a:solidFill>
                <a:latin typeface="Consolas"/>
              </a:rPr>
              <a:t>nums.reduce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((acc, n) =&gt; acc + n, 0);           // 15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// max without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Math.max</a:t>
            </a:r>
            <a:endParaRPr sz="1600" dirty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15000"/>
              </a:lnSpc>
            </a:pPr>
            <a:r>
              <a:rPr sz="1600" dirty="0" err="1">
                <a:solidFill>
                  <a:srgbClr val="1A1A1A"/>
                </a:solidFill>
                <a:latin typeface="Consolas"/>
              </a:rPr>
              <a:t>nums.reduce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((max, n) =&gt; n &gt; max ? n : max);    // 5 (no seed: uses [0])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// min price across products</a:t>
            </a:r>
          </a:p>
          <a:p>
            <a:pPr algn="l">
              <a:lnSpc>
                <a:spcPct val="115000"/>
              </a:lnSpc>
            </a:pPr>
            <a:r>
              <a:rPr sz="1600" dirty="0" err="1">
                <a:solidFill>
                  <a:srgbClr val="1A1A1A"/>
                </a:solidFill>
                <a:latin typeface="Consolas"/>
              </a:rPr>
              <a:t>products.reduce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 (cheap, p) =&gt;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p.price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 &lt;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cheap.price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 ? p : cheap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669280"/>
            <a:ext cx="11155680" cy="640080"/>
          </a:xfrm>
          <a:prstGeom prst="roundRect">
            <a:avLst/>
          </a:prstGeom>
          <a:solidFill>
            <a:srgbClr val="FDECEC"/>
          </a:solidFill>
          <a:ln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779008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 dirty="0">
                <a:solidFill>
                  <a:srgbClr val="6B1717"/>
                </a:solidFill>
                <a:latin typeface="Calibri"/>
              </a:rPr>
              <a:t>No initial value? First call uses </a:t>
            </a:r>
            <a:r>
              <a:rPr sz="1500" i="1" dirty="0" err="1">
                <a:solidFill>
                  <a:srgbClr val="6B1717"/>
                </a:solidFill>
                <a:latin typeface="Calibri"/>
              </a:rPr>
              <a:t>arr</a:t>
            </a:r>
            <a:r>
              <a:rPr sz="1500" i="1" dirty="0">
                <a:solidFill>
                  <a:srgbClr val="6B1717"/>
                </a:solidFill>
                <a:latin typeface="Calibri"/>
              </a:rPr>
              <a:t>[0] as the seed and SKIPS </a:t>
            </a:r>
            <a:r>
              <a:rPr sz="1500" i="1" dirty="0" err="1">
                <a:solidFill>
                  <a:srgbClr val="6B1717"/>
                </a:solidFill>
                <a:latin typeface="Calibri"/>
              </a:rPr>
              <a:t>arr</a:t>
            </a:r>
            <a:r>
              <a:rPr sz="1500" i="1" dirty="0">
                <a:solidFill>
                  <a:srgbClr val="6B1717"/>
                </a:solidFill>
                <a:latin typeface="Calibri"/>
              </a:rPr>
              <a:t>[0] — dangerous when the array may be empty.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A5F"/>
                </a:solidFill>
                <a:latin typeface="Calibri"/>
              </a:rPr>
              <a:t>8. reduce — grouping into an object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155680" cy="4754880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9234" y="1715588"/>
            <a:ext cx="10617926" cy="33798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const products = [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 { name: 'Laptop',  cat: 'tech'    },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 { name: 'Book',    cat: 'reading' },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 { name: 'Monitor', cat: 'tech'    },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const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byCat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 = </a:t>
            </a:r>
            <a:r>
              <a:rPr sz="1600" dirty="0" err="1">
                <a:solidFill>
                  <a:srgbClr val="1A1A1A"/>
                </a:solidFill>
                <a:latin typeface="Consolas"/>
              </a:rPr>
              <a:t>products.reduce</a:t>
            </a:r>
            <a:r>
              <a:rPr sz="1600" dirty="0">
                <a:solidFill>
                  <a:srgbClr val="1A1A1A"/>
                </a:solidFill>
                <a:latin typeface="Consolas"/>
              </a:rPr>
              <a:t>((acc, p) =&gt; {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 (acc[p.cat] ||= []).push(p);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 return acc;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}, {});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 dirty="0">
                <a:solidFill>
                  <a:srgbClr val="1A1A1A"/>
                </a:solidFill>
                <a:latin typeface="Consolas"/>
              </a:rPr>
              <a:t>// { tech: [Laptop, Monitor], reading: [Book] 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9. sort — ordering (carefully!)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sort() is DIFFERENT — it MUTATES the array in place.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Without a comparator, it sorts by STRING order (surprise!).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Comparator contract: negative -&gt; a first,  positive -&gt; b first,  zero -&gt; equal.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108960"/>
            <a:ext cx="11155680" cy="2743200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3218688"/>
            <a:ext cx="10881360" cy="2523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// The classic trap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[10, 2, 30, 4].sort();            // [10, 2, 30, 4] compared as strings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// The fix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[10, 2, 30, 4].sort((a, b) =&gt; a - b);   // [2, 4, 10, 30]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[10, 2, 30, 4].sort((a, b) =&gt; b - a);   // [30, 10, 4, 2]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500" dirty="0">
                <a:solidFill>
                  <a:srgbClr val="1A1A1A"/>
                </a:solidFill>
                <a:latin typeface="Consolas"/>
              </a:rPr>
              <a:t>// Sorting objects</a:t>
            </a:r>
          </a:p>
          <a:p>
            <a:pPr algn="l">
              <a:lnSpc>
                <a:spcPct val="115000"/>
              </a:lnSpc>
            </a:pPr>
            <a:r>
              <a:rPr sz="1500" dirty="0" err="1">
                <a:solidFill>
                  <a:srgbClr val="1A1A1A"/>
                </a:solidFill>
                <a:latin typeface="Consolas"/>
              </a:rPr>
              <a:t>products.sort</a:t>
            </a:r>
            <a:r>
              <a:rPr sz="1500" dirty="0">
                <a:solidFill>
                  <a:srgbClr val="1A1A1A"/>
                </a:solidFill>
                <a:latin typeface="Consolas"/>
              </a:rPr>
              <a:t>((a, b) =&gt; </a:t>
            </a:r>
            <a:r>
              <a:rPr sz="1500" dirty="0" err="1">
                <a:solidFill>
                  <a:srgbClr val="1A1A1A"/>
                </a:solidFill>
                <a:latin typeface="Consolas"/>
              </a:rPr>
              <a:t>a.price</a:t>
            </a:r>
            <a:r>
              <a:rPr sz="1500" dirty="0">
                <a:solidFill>
                  <a:srgbClr val="1A1A1A"/>
                </a:solidFill>
                <a:latin typeface="Consolas"/>
              </a:rPr>
              <a:t> - </a:t>
            </a:r>
            <a:r>
              <a:rPr sz="1500" dirty="0" err="1">
                <a:solidFill>
                  <a:srgbClr val="1A1A1A"/>
                </a:solidFill>
                <a:latin typeface="Consolas"/>
              </a:rPr>
              <a:t>b.price</a:t>
            </a:r>
            <a:r>
              <a:rPr sz="1500" dirty="0">
                <a:solidFill>
                  <a:srgbClr val="1A1A1A"/>
                </a:solidFill>
                <a:latin typeface="Consolas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500" dirty="0" err="1">
                <a:solidFill>
                  <a:srgbClr val="1A1A1A"/>
                </a:solidFill>
                <a:latin typeface="Consolas"/>
              </a:rPr>
              <a:t>products.sort</a:t>
            </a:r>
            <a:r>
              <a:rPr sz="1500" dirty="0">
                <a:solidFill>
                  <a:srgbClr val="1A1A1A"/>
                </a:solidFill>
                <a:latin typeface="Consolas"/>
              </a:rPr>
              <a:t>((a, b) =&gt; </a:t>
            </a:r>
            <a:r>
              <a:rPr sz="1500" dirty="0" err="1">
                <a:solidFill>
                  <a:srgbClr val="1A1A1A"/>
                </a:solidFill>
                <a:latin typeface="Consolas"/>
              </a:rPr>
              <a:t>a.name.localeCompare</a:t>
            </a:r>
            <a:r>
              <a:rPr sz="1500" dirty="0">
                <a:solidFill>
                  <a:srgbClr val="1A1A1A"/>
                </a:solidFill>
                <a:latin typeface="Consolas"/>
              </a:rPr>
              <a:t>(b.name));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943600"/>
            <a:ext cx="11155680" cy="411480"/>
          </a:xfrm>
          <a:prstGeom prst="roundRect">
            <a:avLst/>
          </a:prstGeom>
          <a:solidFill>
            <a:srgbClr val="FDECEC"/>
          </a:solidFill>
          <a:ln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053328"/>
            <a:ext cx="107899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B1717"/>
                </a:solidFill>
                <a:latin typeface="Calibri"/>
              </a:rPr>
              <a:t>Inside React state? Copy first: [...items].sort(...)  — otherwise you mutate state.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10. The real power — chaining pure steps</a:t>
            </a:r>
          </a:p>
        </p:txBody>
      </p:sp>
      <p:pic>
        <p:nvPicPr>
          <p:cNvPr id="3" name="Picture 2" descr="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977" y="1280160"/>
            <a:ext cx="6561739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1F3A5F"/>
                </a:solidFill>
                <a:latin typeface="Calibri"/>
              </a:rPr>
              <a:t>map, filter, slice, sort (+copy) all return ARRAYS — so we can pipe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A5F"/>
                </a:solidFill>
                <a:latin typeface="Calibri"/>
              </a:rPr>
              <a:t>10. Chaining — a realistic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 dirty="0">
                <a:solidFill>
                  <a:srgbClr val="333333"/>
                </a:solidFill>
                <a:latin typeface="Calibri"/>
              </a:rPr>
              <a:t>"Top-3 most expensive IN-STOCK laptop names, UPPER-CASED"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11155680" cy="3017520"/>
          </a:xfrm>
          <a:prstGeom prst="roundRect">
            <a:avLst/>
          </a:prstGeom>
          <a:solidFill>
            <a:srgbClr val="F4F6FA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029968"/>
            <a:ext cx="1088136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dirty="0">
                <a:solidFill>
                  <a:srgbClr val="1A1A1A"/>
                </a:solidFill>
                <a:latin typeface="Consolas"/>
              </a:rPr>
              <a:t>const top3 = products</a:t>
            </a:r>
          </a:p>
          <a:p>
            <a:pPr algn="l">
              <a:lnSpc>
                <a:spcPct val="115000"/>
              </a:lnSpc>
            </a:pPr>
            <a:r>
              <a:rPr sz="1800" dirty="0">
                <a:solidFill>
                  <a:srgbClr val="1A1A1A"/>
                </a:solidFill>
                <a:latin typeface="Consolas"/>
              </a:rPr>
              <a:t>  .filter(p =&gt; p.cat === 'laptop' &amp;&amp; </a:t>
            </a:r>
            <a:r>
              <a:rPr sz="1800" dirty="0" err="1">
                <a:solidFill>
                  <a:srgbClr val="1A1A1A"/>
                </a:solidFill>
                <a:latin typeface="Consolas"/>
              </a:rPr>
              <a:t>p.inStock</a:t>
            </a:r>
            <a:r>
              <a:rPr sz="1800" dirty="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800" dirty="0">
                <a:solidFill>
                  <a:srgbClr val="1A1A1A"/>
                </a:solidFill>
                <a:latin typeface="Consolas"/>
              </a:rPr>
              <a:t>  .sort((a, b) =&gt; </a:t>
            </a:r>
            <a:r>
              <a:rPr sz="1800" dirty="0" err="1">
                <a:solidFill>
                  <a:srgbClr val="1A1A1A"/>
                </a:solidFill>
                <a:latin typeface="Consolas"/>
              </a:rPr>
              <a:t>b.price</a:t>
            </a:r>
            <a:r>
              <a:rPr sz="1800" dirty="0">
                <a:solidFill>
                  <a:srgbClr val="1A1A1A"/>
                </a:solidFill>
                <a:latin typeface="Consolas"/>
              </a:rPr>
              <a:t> - </a:t>
            </a:r>
            <a:r>
              <a:rPr sz="1800" dirty="0" err="1">
                <a:solidFill>
                  <a:srgbClr val="1A1A1A"/>
                </a:solidFill>
                <a:latin typeface="Consolas"/>
              </a:rPr>
              <a:t>a.price</a:t>
            </a:r>
            <a:r>
              <a:rPr sz="1800" dirty="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800" dirty="0">
                <a:solidFill>
                  <a:srgbClr val="1A1A1A"/>
                </a:solidFill>
                <a:latin typeface="Consolas"/>
              </a:rPr>
              <a:t>  .slice(0, 3)</a:t>
            </a:r>
          </a:p>
          <a:p>
            <a:pPr algn="l">
              <a:lnSpc>
                <a:spcPct val="115000"/>
              </a:lnSpc>
            </a:pPr>
            <a:r>
              <a:rPr sz="1800" dirty="0">
                <a:solidFill>
                  <a:srgbClr val="1A1A1A"/>
                </a:solidFill>
                <a:latin typeface="Consolas"/>
              </a:rPr>
              <a:t>  .map(p =&gt; </a:t>
            </a:r>
            <a:r>
              <a:rPr sz="1800" dirty="0" err="1">
                <a:solidFill>
                  <a:srgbClr val="1A1A1A"/>
                </a:solidFill>
                <a:latin typeface="Consolas"/>
              </a:rPr>
              <a:t>p.name.toUpperCase</a:t>
            </a:r>
            <a:r>
              <a:rPr sz="1800" dirty="0">
                <a:solidFill>
                  <a:srgbClr val="1A1A1A"/>
                </a:solidFill>
                <a:latin typeface="Consolas"/>
              </a:rPr>
              <a:t>());</a:t>
            </a:r>
          </a:p>
          <a:p>
            <a:pPr algn="l">
              <a:lnSpc>
                <a:spcPct val="115000"/>
              </a:lnSpc>
            </a:pPr>
            <a:r>
              <a:rPr sz="1800" dirty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800" dirty="0">
                <a:solidFill>
                  <a:srgbClr val="1A1A1A"/>
                </a:solidFill>
                <a:latin typeface="Consolas"/>
              </a:rPr>
              <a:t>// ['MACBOOK PRO', 'DELL XPS', 'LENOVO YOGA']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03520"/>
            <a:ext cx="11155680" cy="1097280"/>
          </a:xfrm>
          <a:prstGeom prst="roundRect">
            <a:avLst/>
          </a:prstGeom>
          <a:solidFill>
            <a:srgbClr val="FFF6D5"/>
          </a:solidFill>
          <a:ln>
            <a:solidFill>
              <a:srgbClr val="E6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413248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C4A00"/>
                </a:solidFill>
                <a:latin typeface="Calibri"/>
              </a:rPr>
              <a:t>If a step feels magical, break it out and name it: const inStockLaptops = products.filter(...). Named intermediates are free documentation.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A5F"/>
                </a:solidFill>
                <a:latin typeface="Calibri"/>
              </a:rPr>
              <a:t>11. Performance &amp;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1556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Each step in a chain is a full O(n) pass. For arrays &lt; 10,000 items — readability wins, every time.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Hot path? One for-loop fuses passes and avoids intermediate arrays.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</a:t>
            </a:r>
            <a:r>
              <a:rPr sz="1700" dirty="0" err="1">
                <a:solidFill>
                  <a:srgbClr val="222222"/>
                </a:solidFill>
                <a:latin typeface="Calibri"/>
              </a:rPr>
              <a:t>forEach</a:t>
            </a:r>
            <a:r>
              <a:rPr sz="1700" dirty="0">
                <a:solidFill>
                  <a:srgbClr val="222222"/>
                </a:solidFill>
                <a:latin typeface="Calibri"/>
              </a:rPr>
              <a:t> / map do NOT wait for async — use for…of + await, or </a:t>
            </a:r>
            <a:r>
              <a:rPr sz="1700" dirty="0" err="1">
                <a:solidFill>
                  <a:srgbClr val="222222"/>
                </a:solidFill>
                <a:latin typeface="Calibri"/>
              </a:rPr>
              <a:t>Promise.all</a:t>
            </a:r>
            <a:r>
              <a:rPr sz="1700" dirty="0">
                <a:solidFill>
                  <a:srgbClr val="222222"/>
                </a:solidFill>
                <a:latin typeface="Calibri"/>
              </a:rPr>
              <a:t>(</a:t>
            </a:r>
            <a:r>
              <a:rPr sz="1700" dirty="0" err="1">
                <a:solidFill>
                  <a:srgbClr val="222222"/>
                </a:solidFill>
                <a:latin typeface="Calibri"/>
              </a:rPr>
              <a:t>arr.map</a:t>
            </a:r>
            <a:r>
              <a:rPr sz="1700" dirty="0">
                <a:solidFill>
                  <a:srgbClr val="222222"/>
                </a:solidFill>
                <a:latin typeface="Calibri"/>
              </a:rPr>
              <a:t>(</a:t>
            </a:r>
            <a:r>
              <a:rPr sz="1700" dirty="0" err="1">
                <a:solidFill>
                  <a:srgbClr val="222222"/>
                </a:solidFill>
                <a:latin typeface="Calibri"/>
              </a:rPr>
              <a:t>asyncFn</a:t>
            </a:r>
            <a:r>
              <a:rPr sz="1700" dirty="0">
                <a:solidFill>
                  <a:srgbClr val="222222"/>
                </a:solidFill>
                <a:latin typeface="Calibri"/>
              </a:rPr>
              <a:t>)).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Non-mutating: map, filter, slice, </a:t>
            </a:r>
            <a:r>
              <a:rPr sz="1700" dirty="0" err="1">
                <a:solidFill>
                  <a:srgbClr val="222222"/>
                </a:solidFill>
                <a:latin typeface="Calibri"/>
              </a:rPr>
              <a:t>concat</a:t>
            </a:r>
            <a:r>
              <a:rPr sz="1700" dirty="0">
                <a:solidFill>
                  <a:srgbClr val="222222"/>
                </a:solidFill>
                <a:latin typeface="Calibri"/>
              </a:rPr>
              <a:t>, flat, reduce, …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dirty="0">
                <a:solidFill>
                  <a:srgbClr val="222222"/>
                </a:solidFill>
                <a:latin typeface="Calibri"/>
              </a:rPr>
              <a:t>•  Mutating (beware!): sort, reverse, splice, push, pop — copy first.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A5F"/>
                </a:solidFill>
                <a:latin typeface="Calibri"/>
              </a:rPr>
              <a:t>Cheat-sheet — save this image, put it on your monitor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534046"/>
              </p:ext>
            </p:extLst>
          </p:nvPr>
        </p:nvGraphicFramePr>
        <p:xfrm>
          <a:off x="548640" y="137160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Returns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Use when you want to…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1A1A1A"/>
                          </a:solidFill>
                          <a:latin typeface="Consolas"/>
                        </a:rPr>
                        <a:t>forEach</a:t>
                      </a:r>
                      <a:endParaRPr sz="1300" b="1" dirty="0">
                        <a:solidFill>
                          <a:srgbClr val="1A1A1A"/>
                        </a:solidFill>
                        <a:latin typeface="Consola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A1A1A"/>
                          </a:solidFill>
                          <a:latin typeface="Calibri"/>
                        </a:rPr>
                        <a:t>undefined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A1A1A"/>
                          </a:solidFill>
                          <a:latin typeface="Calibri"/>
                        </a:rPr>
                        <a:t>perform a side effect on each 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onsolas"/>
                        </a:rPr>
                        <a:t>map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A1A1A"/>
                          </a:solidFill>
                          <a:latin typeface="Calibri"/>
                        </a:rPr>
                        <a:t>new array (same 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len</a:t>
                      </a:r>
                      <a:r>
                        <a:rPr lang="en-US" sz="1300" b="0">
                          <a:solidFill>
                            <a:srgbClr val="1A1A1A"/>
                          </a:solidFill>
                          <a:latin typeface="Calibri"/>
                        </a:rPr>
                        <a:t>gth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)</a:t>
                      </a:r>
                      <a:endParaRPr sz="130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A1A1A"/>
                          </a:solidFill>
                          <a:latin typeface="Calibri"/>
                        </a:rPr>
                        <a:t>transform every item 1-to-1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onsolas"/>
                        </a:rPr>
                        <a:t>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new array (shorter)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keep items passing a predicate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onsolas"/>
                        </a:rPr>
                        <a:t>find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item | undefined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get the FIRST match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onsolas"/>
                        </a:rPr>
                        <a:t>findIndex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get the POSITION of the first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onsolas"/>
                        </a:rPr>
                        <a:t>some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ask: "is ANY item…?"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onsolas"/>
                        </a:rPr>
                        <a:t>every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ask: "are ALL items…?"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onsolas"/>
                        </a:rPr>
                        <a:t>reduce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any single value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collapse many items into one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onsolas"/>
                        </a:rPr>
                        <a:t>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same array (mutated!)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A1A1A"/>
                          </a:solidFill>
                          <a:latin typeface="Calibri"/>
                        </a:rPr>
                        <a:t>order items (always pass comparator)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Day 5 — Functional JavaScript: Higher-Order Array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3EE"/>
                </a:solidFill>
                <a:latin typeface="Calibri"/>
              </a:rPr>
              <a:t>Week 2 · Day 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46520"/>
            <a:ext cx="11430000" cy="952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B8794"/>
                </a:solidFill>
                <a:latin typeface="Calibri"/>
              </a:rPr>
              <a:t>MERN Stack Bootcamp · Instructor: Abid 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566160"/>
            <a:ext cx="12191695" cy="13716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Time to get your hands dirty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DCE3EE"/>
                </a:solidFill>
                <a:latin typeface="Calibri"/>
              </a:rPr>
              <a:t>Open the lab manual and practise everything on a realistic e-commerce catalogue.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2A65A"/>
                </a:solidFill>
                <a:latin typeface="Calibri"/>
              </a:rPr>
              <a:t>Lab file: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LAB MANUAL DAY 5 - ARRAY METHODS.pdf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DCE3EE"/>
                </a:solidFill>
                <a:latin typeface="Calibri"/>
              </a:rPr>
              <a:t>Coming next: fetching JSON + rendering — this exact pipeline, inside a React component.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B6CC"/>
                </a:solidFill>
                <a:latin typeface="Calibri"/>
              </a:rPr>
              <a:t>Instructor: Abid Ali   ·   MERN Stack Bootcamp   ·   Week 2 · Day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3049</Words>
  <Application>Microsoft Office PowerPoint</Application>
  <PresentationFormat>Widescreen</PresentationFormat>
  <Paragraphs>350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Abid Ali</cp:lastModifiedBy>
  <cp:revision>2</cp:revision>
  <dcterms:created xsi:type="dcterms:W3CDTF">2013-01-27T09:14:16Z</dcterms:created>
  <dcterms:modified xsi:type="dcterms:W3CDTF">2026-04-22T11:13:10Z</dcterms:modified>
  <cp:category/>
</cp:coreProperties>
</file>