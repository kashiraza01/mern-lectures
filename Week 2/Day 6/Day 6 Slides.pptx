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13716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CE3EE"/>
                </a:solidFill>
                <a:latin typeface="Calibri"/>
              </a:rPr>
              <a:t>MERN Stack Bootcamp  ·  Week 2  ·  Day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JavaScript Modules &amp;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dirty="0">
                <a:solidFill>
                  <a:srgbClr val="F2A65A"/>
                </a:solidFill>
                <a:latin typeface="Calibri"/>
              </a:rPr>
              <a:t>ES Modules · </a:t>
            </a:r>
            <a:r>
              <a:rPr sz="3000" b="0" i="0" dirty="0" err="1">
                <a:solidFill>
                  <a:srgbClr val="F2A65A"/>
                </a:solidFill>
                <a:latin typeface="Calibri"/>
              </a:rPr>
              <a:t>npm</a:t>
            </a:r>
            <a:r>
              <a:rPr sz="3000" b="0" i="0" dirty="0">
                <a:solidFill>
                  <a:srgbClr val="F2A65A"/>
                </a:solidFill>
                <a:latin typeface="Calibri"/>
              </a:rPr>
              <a:t> · </a:t>
            </a:r>
            <a:r>
              <a:rPr sz="3000" b="0" i="0" dirty="0" err="1">
                <a:solidFill>
                  <a:srgbClr val="F2A65A"/>
                </a:solidFill>
                <a:latin typeface="Calibri"/>
              </a:rPr>
              <a:t>Vite</a:t>
            </a:r>
            <a:endParaRPr sz="3000" b="0" i="0" dirty="0">
              <a:solidFill>
                <a:srgbClr val="F2A65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DCE3EE"/>
                </a:solidFill>
                <a:latin typeface="Calibri"/>
              </a:rPr>
              <a:t>From &lt;script&gt; tags to a modern dev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8794"/>
                </a:solidFill>
                <a:latin typeface="Calibri"/>
              </a:rPr>
              <a:t>Instructor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8794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90 minutes  (lecture)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B8794"/>
                </a:solidFill>
                <a:latin typeface="Calibri"/>
              </a:rPr>
              <a:t>Prereq: comfortable JS · arrays/objects · browser DevTools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Agenda (90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1. Why modules? The global-scope disaster                (7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2. A short history: IIFE →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CommonJS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→ ES Modules    (5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3. export — named, default, re-export         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4. import — named, default, namespace, rename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5. Module resolution &amp; quirks                                        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6.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npm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package.json</a:t>
            </a:r>
            <a:r>
              <a:rPr sz="16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lockfile</a:t>
            </a:r>
            <a:r>
              <a:rPr sz="16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semver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7.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npm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scripts &amp; installing packages                           (8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8. Bundlers — why we still need them                        (5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9.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Vite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— dev server, HMR, build                                  (15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10. Project structure &amp; tour of a real app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11. Pitfalls, cheat-sheet, next steps                             (5 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155680" cy="64008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8756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By the end of today you will scaffold a real Vite project, split it into modules, install npm packages, and build it for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Where we are in 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Week 1 — the engine, the event loop, the DOM.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Week 2 Day 3–5 — async, Promises, array methods.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So far: every file loaded via &lt;script&gt; into one big global soup.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Today — we finally put our code into real, isolated files and plug into the modern JS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303520"/>
            <a:ext cx="11155680" cy="91440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13248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React, Express, and every tutorial you will read from now on assumes you know ES Modules + npm + Vite. Today fills that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By the end of this lecture, you will be able to…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Explain why a MODULE SYSTEM is needed in any non-trivial JS app.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Write correct export / import statements (named, default, namespace, renamed, re-exported).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Read package.json and package-lock.json — and understand semver ranges like ^ and ~.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Install, update and remove packages with npm, and add npm scripts.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Scaffold a Vite project, run the dev server with HMR, and produce a production build.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Split a small app into clean modules with a single entry 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1. Life before modules — one giant global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Every &lt;script&gt; tag shared window. Variable collisions, load-order bugs, no privacy.</a:t>
            </a:r>
          </a:p>
        </p:txBody>
      </p:sp>
      <p:pic>
        <p:nvPicPr>
          <p:cNvPr id="4" name="Picture 3" descr="script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259" y="1828800"/>
            <a:ext cx="7747175" cy="3566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760720"/>
            <a:ext cx="11155680" cy="64008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8704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Modules give every file its OWN scope + an explicit "public API". This single idea fixes half the problems above.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1. What a module buys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ISOLATION — variables inside a module are private by default.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EXPLICIT DEPENDENCIES — you see exactly what a file needs at the top (`import …`).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REUSABILITY — one module can be consumed by many files.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TOOLING — bundlers, tree-shaking, linting and type-checking all need the module graph.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ORDER-INDEPENDENCE — put &lt;script type="module"&gt; anywhere; imports are resolved for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2. A short history of JS modules</a:t>
            </a:r>
          </a:p>
        </p:txBody>
      </p:sp>
      <p:pic>
        <p:nvPicPr>
          <p:cNvPr id="3" name="Picture 2" descr="modul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705" y="1463040"/>
            <a:ext cx="8850283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46320"/>
            <a:ext cx="11155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CommonJS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(`require`) is still what Node originally shipped — you'll see it in legacy code.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ES Modules are the standard — browser, Node,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Deno</a:t>
            </a:r>
            <a:r>
              <a:rPr sz="1500" dirty="0">
                <a:solidFill>
                  <a:srgbClr val="222222"/>
                </a:solidFill>
                <a:latin typeface="Calibri"/>
              </a:rPr>
              <a:t>, Bun all agree. Write this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3. export — publishing your public API</a:t>
            </a:r>
          </a:p>
        </p:txBody>
      </p:sp>
      <p:pic>
        <p:nvPicPr>
          <p:cNvPr id="3" name="Picture 2" descr="import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060" y="1325880"/>
            <a:ext cx="7037574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1F3A5F"/>
                </a:solidFill>
                <a:latin typeface="Calibri"/>
              </a:rPr>
              <a:t>Anything NOT exported is private to the module. That is the whole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3. Named vs default exports</a:t>
            </a:r>
          </a:p>
        </p:txBody>
      </p:sp>
      <p:pic>
        <p:nvPicPr>
          <p:cNvPr id="3" name="Picture 2" descr="named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362" y="1280160"/>
            <a:ext cx="8806970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303520"/>
            <a:ext cx="11155680" cy="100584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13248"/>
            <a:ext cx="107899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Rule: prefer NAMED exports. They auto-complete, they refactor safely, and grep finds usages. Use default only when a file exports ONE obvious 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3. Every flavour of export, in one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1430000" cy="493776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1. Inline named export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const PI = 3.14159;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function add(a, b) { return a + b; }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2. Grouped named export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sub = (a, b) =&gt; a - b;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mul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= (a, b) =&gt; a * b;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{ sub,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mul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3. Rename on the way out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{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mul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as multiply };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4. Default export  (one per file)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default class Calculator { /* ... */ }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5. Re-export (barrel file)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{ add, sub } from './math.js';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export * from './trig.js';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4. Every flavour of import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521208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5692" y="1593668"/>
            <a:ext cx="10661468" cy="4880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1. Named import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{ add, PI } from './math.js';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2. Rename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{ add as plus } from './math.js';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3. Default import (importer picks the name)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Calc from './calc.js';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4. Mix default + named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Calc, { PI } from './calc.js';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5. Namespace import (everything as one object)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* as math from './math.js';</a:t>
            </a:r>
          </a:p>
          <a:p>
            <a:pPr algn="l">
              <a:lnSpc>
                <a:spcPct val="115000"/>
              </a:lnSpc>
            </a:pPr>
            <a:r>
              <a:rPr sz="1300" dirty="0" err="1">
                <a:solidFill>
                  <a:srgbClr val="1A1A1A"/>
                </a:solidFill>
                <a:latin typeface="Consolas"/>
              </a:rPr>
              <a:t>math.add</a:t>
            </a:r>
            <a:r>
              <a:rPr sz="1300" dirty="0">
                <a:solidFill>
                  <a:srgbClr val="1A1A1A"/>
                </a:solidFill>
                <a:latin typeface="Consolas"/>
              </a:rPr>
              <a:t>(2, 3);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6. Side-effect only (runs the file, imports nothing)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import './style.css';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// 7. Dynamic (lazy) import  -&gt;  returns a Promise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1A1A1A"/>
                </a:solidFill>
                <a:latin typeface="Consolas"/>
              </a:rPr>
              <a:t>const mod = await import('./heavy.js');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4. Import rules you must internalise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Imports are HOISTED — they run before any code in the file.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Imports are LIVE BINDINGS — you import a reference, not a copy.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Imports are READ-ONLY — you cannot reassign an imported value.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Every module is evaluated ONCE and cached — importing the same file twice gives you the same object.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In real browsers, paths must be full (`./math.js` not `./math`). Bundlers relax that for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5. Where does `./math.js` actually come from?</a:t>
            </a:r>
          </a:p>
        </p:txBody>
      </p:sp>
      <p:pic>
        <p:nvPicPr>
          <p:cNvPr id="3" name="Picture 2" descr="browser_vs_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989" y="1325880"/>
            <a:ext cx="7913716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Relative path  ./x.js   — file next to 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Absolute path  /x.js    — from the web root.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Bare specifier 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lodash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 — means "look in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node_modules</a:t>
            </a:r>
            <a:r>
              <a:rPr sz="1600" dirty="0">
                <a:solidFill>
                  <a:srgbClr val="222222"/>
                </a:solidFill>
                <a:latin typeface="Calibri"/>
              </a:rPr>
              <a:t>" (only bundlers / Node understand this).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6. npm — Node Package Manager</a:t>
            </a:r>
          </a:p>
        </p:txBody>
      </p:sp>
      <p:pic>
        <p:nvPicPr>
          <p:cNvPr id="3" name="Picture 2" descr="np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507" y="1325880"/>
            <a:ext cx="7990680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80"/>
            <a:ext cx="11155680" cy="100584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321808"/>
            <a:ext cx="107899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Three files define any JS project: package.json (what you want), package-lock.json (what you actually got), node_modules/ (the actual code).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6. package.json anatomy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20" y="1254034"/>
            <a:ext cx="11582400" cy="5055326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"name": "my-app",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"version": "1.0.0",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"type": "module",         // use ES Modules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"scripts": {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  "dev":  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vite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",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  "build":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vite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build",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  "preview":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vite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preview"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"dependencies": {            // needed at runtime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 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dayjs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": "^1.11.10"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devDependencies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": {         // dev only (build/test/lint)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  "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vite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": "^5.0.0"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6.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Semver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— what ^ and ~ really mean</a:t>
            </a:r>
          </a:p>
        </p:txBody>
      </p:sp>
      <p:pic>
        <p:nvPicPr>
          <p:cNvPr id="3" name="Picture 2" descr="sem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999" y="1490472"/>
            <a:ext cx="838693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^1.4.2  → any 1.x.x that is ≥ 1.4.2 (flexible on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minor+patch</a:t>
            </a:r>
            <a:r>
              <a:rPr sz="1600" dirty="0">
                <a:solidFill>
                  <a:srgbClr val="222222"/>
                </a:solidFill>
                <a:latin typeface="Calibri"/>
              </a:rPr>
              <a:t>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~1.4.2  → any 1.4.x that is ≥ 1.4.2 (only patch).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1.4.2   → exactly 1.4.2.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package-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lock.json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LOCKS the exact version installed, so the build is reproducible for everyone.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6. Everyday npm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8194" y="1238250"/>
            <a:ext cx="11430000" cy="5014722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228" y="1481329"/>
            <a:ext cx="10826931" cy="4717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create a new project (y = accept all defaults)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init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-y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runtime dep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install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dayjs</a:t>
            </a:r>
            <a:endParaRPr sz="14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dev-only dep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install --save-dev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vite</a:t>
            </a:r>
            <a:endParaRPr sz="14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install everything listed in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package.json</a:t>
            </a:r>
            <a:endParaRPr sz="14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install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run a script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run dev            # runs the "dev" entry in scripts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remove, update, audit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uninstall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lodash</a:t>
            </a:r>
            <a:endParaRPr sz="14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update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audit                 # check for known CVEs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>
                <a:solidFill>
                  <a:srgbClr val="1A1A1A"/>
                </a:solidFill>
                <a:latin typeface="Consolas"/>
              </a:rPr>
              <a:t># one-shot: run a CLI without installing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npx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create-vite@latest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my-app -- --template vanilla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7. Browsers CAN run modules — so why bundlers?</a:t>
            </a:r>
          </a:p>
        </p:txBody>
      </p:sp>
      <p:pic>
        <p:nvPicPr>
          <p:cNvPr id="3" name="Picture 2" descr="bund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14" y="1325880"/>
            <a:ext cx="7972884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0"/>
            <a:ext cx="11155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Raw ES Modules in a browser = many HTTP requests + slow cold starts on big apps.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Bundlers give us tree-shaking, minification, code-splitting, env variables, CSS/image imports, TypeScript — the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Vite — the modern build tool we will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Created by Evan You (Vue author), now the default for React, Vue, Svelte, SolidJS.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Two modes: blazingly fast dev server, and a production build powered by Rollup.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Zero-config for vanilla JS — just `npm create vite@latest`.</a:t>
            </a:r>
          </a:p>
        </p:txBody>
      </p:sp>
      <p:pic>
        <p:nvPicPr>
          <p:cNvPr id="4" name="Picture 3" descr="vite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68" y="3749039"/>
            <a:ext cx="5874757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Creating a Vite project — 30 seconds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365760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3438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# scaffold</a:t>
            </a: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create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vite@latest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my-app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#  -&gt; pick "Vanilla" -&gt; "JavaScript"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cd my-app</a:t>
            </a: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install        # pulls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vite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+ deps into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node_modules</a:t>
            </a:r>
            <a:endParaRPr sz="16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run dev        # http://localhost:5173  (HMR enabled)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# when you are ready to ship</a:t>
            </a: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run build      # outputs /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dist</a:t>
            </a:r>
            <a:endParaRPr sz="16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npm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run preview    # serves /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dist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locally to sanity-check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303520"/>
            <a:ext cx="11155680" cy="1005840"/>
          </a:xfrm>
          <a:prstGeom prst="roundRect">
            <a:avLst/>
          </a:prstGeom>
          <a:solidFill>
            <a:srgbClr val="E8F7EF"/>
          </a:solidFill>
          <a:ln>
            <a:solidFill>
              <a:srgbClr val="3BA7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413248"/>
            <a:ext cx="107899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 dirty="0">
                <a:solidFill>
                  <a:srgbClr val="13361F"/>
                </a:solidFill>
                <a:latin typeface="Calibri"/>
              </a:rPr>
              <a:t>HMR = Hot Module Replacement. Save a file — the browser updates WITHOUT losing your page state. This is the single biggest productivity win of modern tooling.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What Vite sets up for you</a:t>
            </a:r>
          </a:p>
        </p:txBody>
      </p:sp>
      <p:pic>
        <p:nvPicPr>
          <p:cNvPr id="3" name="Picture 2" descr="projec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79" y="1097280"/>
            <a:ext cx="8453336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index.html is the entry 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493776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718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&lt;!-- index.html --&gt;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&lt;!doctype html&gt;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&lt;html&gt;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 &lt;body&gt;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   &lt;div id="app"&gt;&lt;/div&gt;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   &lt;script type="module" src="/src/main.js"&gt;&lt;/script&gt;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 &lt;/body&gt;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&lt;/html&gt;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// src/main.js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import './style.css';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import { Counter } from './modules/counter.js';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const app = document.getElementById('app');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app.innerHTML = `&lt;button id="btn"&gt;0&lt;/button&gt;`;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A1A1A"/>
                </a:solidFill>
                <a:latin typeface="Consolas"/>
              </a:rPr>
              <a:t>new Counter(document.getElementById('btn'));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909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9. Pitfalls you will hit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Opening index.html by double-clicking (file://) — ES Modules refuse to load. ALWAYS use `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npm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run dev`.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Forgetting the `.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js</a:t>
            </a:r>
            <a:r>
              <a:rPr sz="1700" dirty="0">
                <a:solidFill>
                  <a:srgbClr val="222222"/>
                </a:solidFill>
                <a:latin typeface="Calibri"/>
              </a:rPr>
              <a:t>` extension in a relative import in the browser — works under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Vite</a:t>
            </a:r>
            <a:r>
              <a:rPr sz="1700" dirty="0">
                <a:solidFill>
                  <a:srgbClr val="222222"/>
                </a:solidFill>
                <a:latin typeface="Calibri"/>
              </a:rPr>
              <a:t>, breaks in pure browser/Node.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Mixing `require()` and `import` in the same file — pick one.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Committing `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node_modules</a:t>
            </a:r>
            <a:r>
              <a:rPr sz="1700" dirty="0">
                <a:solidFill>
                  <a:srgbClr val="222222"/>
                </a:solidFill>
                <a:latin typeface="Calibri"/>
              </a:rPr>
              <a:t>/` to git — DON'T. Commit package-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lock.json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instead.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Running a script you don't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recognise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— `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npm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run` with no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args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lists every defined script.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`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npm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audit` warnings are normal — review, don't panic.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Cheat-sheet — one image, pin it on your monitor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you want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to say 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Export one thing + others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export default X; export const Y = ...;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Import the default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import X from './m.js'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Import named things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import { a, b } from './m.js'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Rename an import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import { a as plus } from './m.js'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Import everything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import * as m from './m.js'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Lazy import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const m = await import('./m.js')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Create a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create vite@latest my-app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Install a runtime dep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install dayjs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Install a dev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install -D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Run dev server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run dev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Production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run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Reproducible install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npm ci   (CI / new machine)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6 — JavaScript Modules &amp; Tooling: ES Modules, npm,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13716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Time to scaffold a real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DCE3EE"/>
                </a:solidFill>
                <a:latin typeface="Calibri"/>
              </a:rPr>
              <a:t>Open the lab manual — you'll build a tiny multi-module app with Vite, install an npm package, and ship a production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A65A"/>
                </a:solidFill>
                <a:latin typeface="Calibri"/>
              </a:rPr>
              <a:t>Lab file: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LAB MANUAL DAY 6 - MODULES AND VITE.pdf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CE3EE"/>
                </a:solidFill>
                <a:latin typeface="Calibri"/>
              </a:rPr>
              <a:t>Coming next: the DOM + real UI building — with everything you learned today as the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B6CC"/>
                </a:solidFill>
                <a:latin typeface="Calibri"/>
              </a:rPr>
              <a:t>Instructor: Abid Ali   ·   MERN Stack Bootcamp   ·   Week 2 · Day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2828</Words>
  <Application>Microsoft Office PowerPoint</Application>
  <PresentationFormat>Widescreen</PresentationFormat>
  <Paragraphs>313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Abid Ali</cp:lastModifiedBy>
  <cp:revision>3</cp:revision>
  <dcterms:created xsi:type="dcterms:W3CDTF">2013-01-27T09:14:16Z</dcterms:created>
  <dcterms:modified xsi:type="dcterms:W3CDTF">2026-04-23T11:32:31Z</dcterms:modified>
  <cp:category/>
</cp:coreProperties>
</file>